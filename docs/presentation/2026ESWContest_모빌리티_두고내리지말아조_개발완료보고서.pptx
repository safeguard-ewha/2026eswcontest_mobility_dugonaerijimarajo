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5"/>
    <p:sldId id="260" r:id="rId6"/>
    <p:sldId id="261" r:id="rId7"/>
    <p:sldId id="262" r:id="rId8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2026.10.28 사용자가 제공한 실차 시험 사진. 센터콘솔 센서 보드와 배선, 실제 차량 장착 상태를 보여준다. 사진에서 확인되는 설치 및 시연 범위이며 감지율·응답시간·냉각 성능의 정량 결과는 별도 로그로 평가한다.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대시보드 출처: SafeGuard-EWHA/safeguard-mmwave-simulator/docs/presentation/img/readme/dashboard_test3.gif. 2026.10.27 실내 시험 3의 저장 원본 재생이다.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제공 실차 동영상.mp4 중 7~19초를 5fps GIF로 삽입했다. 원본 영상 길이 86.52초. 이 자료는 실제 차량에서 촬영한 시연이며 정량 측정 로그를 대신하지 않는다. 기존 레이더 재생 대시보드는 실내 기록이므로 본 실차 영상과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3735-770C-4B41-A359-21F351EDF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A8F08-F5D0-459E-A97C-C2E5F7183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65EEA-C9F9-492F-9AFB-6934EC9CE2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612F-7CB7-4C83-A580-362A172563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37B62-3549-44BF-A6FC-473B704AF9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55B1-2E4C-4873-BAFA-76F02B34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20FC-4BC7-402E-BDEF-8FCE09DE0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3AB4D-0031-4946-A4D3-52D2F2B57B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D2C28-3385-47DB-BE80-DF8F12FE80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1BA1-54E6-4CD4-84DD-F998D331D9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BA97-1CC2-4E70-8A87-679BBB9D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1EF80-F7C1-4893-84CF-A8343A1FC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1C2EB-ED65-46D7-BF59-E777C7A065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DEC68-1B18-4AAC-95E8-1CC6C06995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609D-0C2F-4D37-9866-A70298FDE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49F6-A12F-4043-8035-42E1A399B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5FF56-A1E3-4E5E-9C9A-90BE8E49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61483-2793-494B-B572-5D8632B787C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91CA3-7BB1-4695-8CC2-19D6A37066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FB2EA-FDCA-43A8-81AC-4E39F84923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2310E-E9F2-449F-81CB-7A4451840F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0DE-438C-44A9-A32D-37DB98AD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061A-1AAC-40E0-9861-692BDCF5D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93A19-6A6C-412B-9F88-C8F75CB044A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87712-D740-4774-B969-4A400136B53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8C594-28D4-431B-B27A-6432909AB6B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9EC9C-AAF5-4D62-8F67-45F36853DF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8612F-C0A7-4E49-A565-AF127BB6EB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B0125-2DC8-4843-B8D0-076FF40E0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477C-DE5F-455E-AD33-7E5E0179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8009D-AC46-48E9-AE4F-5CAB3FE9BA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D0918-3751-4951-B01F-D022D9E048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B28B8-EA15-4AD3-A3E1-B2A5301ECA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0305-FD6B-41E7-BC05-9B76FA5F8F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12616-4D7D-4082-AA2E-CA2379AA20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CA862-AF4F-4B61-8FD1-E7455243E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7151-F8A6-4C14-B6CD-6FFC95B9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B3F34-CDDC-46F2-A561-E9AEA7A02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1EA40-3C65-4AD3-8067-101281565C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6C645-CC23-4118-8942-C0AD1275BF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BA6B1-0D4F-4A66-8849-B5FCCEC040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B6420-B3B1-42C4-A2AD-7B8DB87612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3DE7-F11B-4E14-A580-63E8B4ADB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7F219-E1D4-4300-AA51-1D06C44F3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D16F2-2801-4E46-8528-6EFB9E3F30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1834C-6568-4F0E-A5AB-796C44DE18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CC800-46B1-445F-8B7F-A42D73F462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74D94-FCB8-4A85-95E2-5723F097B4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9E38-53E1-49B8-AE2B-506C1BF0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AA2FE-6795-4E43-AE37-863261FA5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B850C-E08A-4347-B962-E493AB7199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9415F-0823-4C99-8681-0A7132F2FC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3FB5F-BF6A-4328-87E8-25EE67B17B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EB432-0E85-4FFF-902E-98ECB4239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7C978-8A80-4F64-BCFF-4E789CB93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46688-FE86-4EBA-A44C-801C55542F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730DD-8ACE-4E12-B4F0-AC5BE7FF03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35A58-C5AB-4901-98A5-EE8916B81D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F4109-1299-4F0A-9DA1-D760CC3B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BF5EC-5327-4E63-891F-28417156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F56D-DE0F-49F6-9861-FB1217D52AB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2026-10-28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120C6-E46D-42B0-BE57-442AAC81FBC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7DA3C-6FC7-46A3-BC91-5251123C03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jpeg"/><Relationship Id="rId5" Type="http://schemas.openxmlformats.org/officeDocument/2006/relationships/image" Target="../media/image1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1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7.gif"/><Relationship Id="rId5" Type="http://schemas.openxmlformats.org/officeDocument/2006/relationships/image" Target="../media/image2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jpeg"/><Relationship Id="rId6" Type="http://schemas.openxmlformats.org/officeDocument/2006/relationships/image" Target="../media/image3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2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8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39A02-DBB8-4CD5-BDE9-3D8EDCEB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F448B2-9ABF-4552-A73D-29E4D0988795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30798-3D4E-4264-9607-9A0B270D0848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4E612-EAFA-4075-A367-7AA6E2718D5A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7C3CF-538B-4129-8A5F-30CFC5466AA1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09077-44B4-4E3A-B870-951557C4BC99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A835F-B3CA-4A64-9452-F1A45B1AC7A4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DEAF7-5BE3-4882-A7F7-039EDFAF2040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4FBC17-3135-4B7D-9304-B74E54EF1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2960"/>
            <a:ext cx="12191695" cy="2377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091D5D-4CD5-4DC9-8099-8BDA1B368B78}"/>
              </a:ext>
            </a:extLst>
          </p:cNvPr>
          <p:cNvSpPr>
            <a:spLocks noGrp="1"/>
          </p:cNvSpPr>
          <p:nvPr/>
        </p:nvSpPr>
        <p:spPr>
          <a:xfrm>
            <a:off x="457200" y="1024128"/>
            <a:ext cx="1127729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HOME   ›   공모부문   ›   </a:t>
            </a:r>
            <a:r>
              <a:rPr sz="11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자동차/모빌리티(현대자동차)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9A548-0125-45F3-93A6-B404106405E8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28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UWB와 mmWave를 융합한 Cascading Wake-up 기반</a:t>
            </a:r>
          </a:p>
          <a:p>
            <a:pPr algn="ctr">
              <a:lnSpc>
                <a:spcPct val="105000"/>
              </a:lnSpc>
              <a:buNone/>
            </a:pPr>
            <a:r>
              <a:rPr sz="28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차량 내 잔류 탑승자 선제 보호 시스템, SafeGuard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8B9EF-8211-4510-9DFF-283C023E7312}"/>
              </a:ext>
            </a:extLst>
          </p:cNvPr>
          <p:cNvSpPr>
            <a:spLocks noGrp="1"/>
          </p:cNvSpPr>
          <p:nvPr/>
        </p:nvSpPr>
        <p:spPr>
          <a:xfrm>
            <a:off x="731520" y="2542032"/>
            <a:ext cx="1072865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4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개발완료보고서  |  The World Embedded Software Contest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CFD00-C941-4C14-9D26-322D4AE19495}"/>
              </a:ext>
            </a:extLst>
          </p:cNvPr>
          <p:cNvSpPr>
            <a:spLocks noGrp="1"/>
          </p:cNvSpPr>
          <p:nvPr/>
        </p:nvSpPr>
        <p:spPr>
          <a:xfrm>
            <a:off x="6035040" y="3611880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3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팀명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C4969-2408-427E-9F46-635E770C422C}"/>
              </a:ext>
            </a:extLst>
          </p:cNvPr>
          <p:cNvSpPr>
            <a:spLocks noGrp="1"/>
          </p:cNvSpPr>
          <p:nvPr/>
        </p:nvSpPr>
        <p:spPr>
          <a:xfrm>
            <a:off x="7498079" y="3611880"/>
            <a:ext cx="4251960" cy="28270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두고내리지말아조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15CA7-58B7-4F84-A094-5802DB28FC6B}"/>
              </a:ext>
            </a:extLst>
          </p:cNvPr>
          <p:cNvSpPr>
            <a:spLocks noGrp="1"/>
          </p:cNvSpPr>
          <p:nvPr/>
        </p:nvSpPr>
        <p:spPr>
          <a:xfrm>
            <a:off x="6035040" y="4069080"/>
            <a:ext cx="569671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652B48-66DE-430C-B8E4-99633CAABF7D}"/>
              </a:ext>
            </a:extLst>
          </p:cNvPr>
          <p:cNvSpPr>
            <a:spLocks noGrp="1"/>
          </p:cNvSpPr>
          <p:nvPr/>
        </p:nvSpPr>
        <p:spPr>
          <a:xfrm>
            <a:off x="6035040" y="4160520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3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팀원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E233DE-2044-4EC0-AA23-EB271CD573F8}"/>
              </a:ext>
            </a:extLst>
          </p:cNvPr>
          <p:cNvSpPr>
            <a:spLocks noGrp="1"/>
          </p:cNvSpPr>
          <p:nvPr/>
        </p:nvSpPr>
        <p:spPr>
          <a:xfrm>
            <a:off x="7498079" y="4220392"/>
            <a:ext cx="4251960" cy="26430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윤현서, </a:t>
            </a:r>
            <a:r>
              <a:rPr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최서현</a:t>
            </a: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윤홍은</a:t>
            </a: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 |  </a:t>
            </a:r>
            <a:r>
              <a:rPr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이화여자대학교</a:t>
            </a:r>
            <a:endParaRPr sz="1300" b="0" i="0" dirty="0">
              <a:solidFill>
                <a:srgbClr val="2222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6AD9F6-5D90-47E2-A067-F1EE21A87DC5}"/>
              </a:ext>
            </a:extLst>
          </p:cNvPr>
          <p:cNvSpPr>
            <a:spLocks noGrp="1"/>
          </p:cNvSpPr>
          <p:nvPr/>
        </p:nvSpPr>
        <p:spPr>
          <a:xfrm>
            <a:off x="6035040" y="4617720"/>
            <a:ext cx="569671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7D9B1-2124-4C5E-98B0-164280FE4A2B}"/>
              </a:ext>
            </a:extLst>
          </p:cNvPr>
          <p:cNvSpPr>
            <a:spLocks noGrp="1"/>
          </p:cNvSpPr>
          <p:nvPr/>
        </p:nvSpPr>
        <p:spPr>
          <a:xfrm>
            <a:off x="6035040" y="4709160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3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소스코드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75272B-4181-4EB0-A646-3C7A0709AF58}"/>
              </a:ext>
            </a:extLst>
          </p:cNvPr>
          <p:cNvSpPr>
            <a:spLocks noGrp="1"/>
          </p:cNvSpPr>
          <p:nvPr/>
        </p:nvSpPr>
        <p:spPr>
          <a:xfrm>
            <a:off x="7498079" y="4709160"/>
            <a:ext cx="425196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github.com/SafeGuard-EWHA/2026ESWContest_mobility_DugoNaerijiMarajo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F86C1B-16D2-4213-96FE-61F32AB0AEAD}"/>
              </a:ext>
            </a:extLst>
          </p:cNvPr>
          <p:cNvSpPr>
            <a:spLocks noGrp="1"/>
          </p:cNvSpPr>
          <p:nvPr/>
        </p:nvSpPr>
        <p:spPr>
          <a:xfrm>
            <a:off x="6035040" y="5166360"/>
            <a:ext cx="569671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0ED5F-C160-4D72-8598-DA4C4AB75EF6}"/>
              </a:ext>
            </a:extLst>
          </p:cNvPr>
          <p:cNvSpPr>
            <a:spLocks noGrp="1"/>
          </p:cNvSpPr>
          <p:nvPr/>
        </p:nvSpPr>
        <p:spPr>
          <a:xfrm>
            <a:off x="6035040" y="5257800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3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시연 영상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E99441-70EA-452E-85B7-E41F8E8A9DD0}"/>
              </a:ext>
            </a:extLst>
          </p:cNvPr>
          <p:cNvSpPr>
            <a:spLocks noGrp="1"/>
          </p:cNvSpPr>
          <p:nvPr/>
        </p:nvSpPr>
        <p:spPr>
          <a:xfrm>
            <a:off x="7498079" y="5266999"/>
            <a:ext cx="4251960" cy="26430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</a:t>
            </a: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영상</a:t>
            </a: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(2026.10.28, 별</a:t>
            </a:r>
            <a:r>
              <a:rPr lang="ko-KR" altLang="en-US" sz="13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도첨부</a:t>
            </a:r>
            <a:r>
              <a:rPr sz="13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MP4)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4CFE64-9336-4AE1-B873-B1DD2B241F3D}"/>
              </a:ext>
            </a:extLst>
          </p:cNvPr>
          <p:cNvSpPr>
            <a:spLocks noGrp="1"/>
          </p:cNvSpPr>
          <p:nvPr/>
        </p:nvSpPr>
        <p:spPr>
          <a:xfrm>
            <a:off x="6035040" y="5715000"/>
            <a:ext cx="569671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8D6946-7F91-4F93-A411-A804F624644C}"/>
              </a:ext>
            </a:extLst>
          </p:cNvPr>
          <p:cNvSpPr>
            <a:spLocks noGrp="1"/>
          </p:cNvSpPr>
          <p:nvPr/>
        </p:nvSpPr>
        <p:spPr>
          <a:xfrm>
            <a:off x="6035040" y="5806440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3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시제품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CBC75F-C87A-4ED5-A2ED-189B0611FBB0}"/>
              </a:ext>
            </a:extLst>
          </p:cNvPr>
          <p:cNvSpPr>
            <a:spLocks noGrp="1"/>
          </p:cNvSpPr>
          <p:nvPr/>
        </p:nvSpPr>
        <p:spPr>
          <a:xfrm>
            <a:off x="7498079" y="5806440"/>
            <a:ext cx="4251960" cy="28270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전동차 시제품 제작 및 실제 차량 장착·시연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627B60-7859-4156-AECA-A396AC2356AB}"/>
              </a:ext>
            </a:extLst>
          </p:cNvPr>
          <p:cNvSpPr>
            <a:spLocks noGrp="1"/>
          </p:cNvSpPr>
          <p:nvPr/>
        </p:nvSpPr>
        <p:spPr>
          <a:xfrm>
            <a:off x="6035040" y="6263640"/>
            <a:ext cx="569671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A46214-FE96-40F9-8A88-3C05CCEA5527}"/>
              </a:ext>
            </a:extLst>
          </p:cNvPr>
          <p:cNvSpPr>
            <a:spLocks noGrp="1"/>
          </p:cNvSpPr>
          <p:nvPr/>
        </p:nvSpPr>
        <p:spPr>
          <a:xfrm>
            <a:off x="6035040" y="635508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0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2026. 10. 28</a:t>
            </a:r>
          </a:p>
        </p:txBody>
      </p:sp>
      <p:pic>
        <p:nvPicPr>
          <p:cNvPr id="32" name="Picture 13" descr="car_side_teddy.jpg">
            <a:extLst>
              <a:ext uri="{FF2B5EF4-FFF2-40B4-BE49-F238E27FC236}">
                <a16:creationId xmlns:a16="http://schemas.microsoft.com/office/drawing/2014/main" id="{C2F95F01-2976-CC4B-B789-3F0A7F8EC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" y="3520440"/>
            <a:ext cx="39014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1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587935-02CC-4F64-8851-84CE5FA2D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BEBAE3-3824-4661-B218-231C7CE3209E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05E5A-D61B-40FA-B4FB-B174F9833D40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856C9-3B3A-4703-80CF-C5B426FA6FA8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63791-76F5-4B10-B1E6-0A211DE32B21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3CC62-49BB-4546-BB6D-7578D2D62B03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B4528-46EC-4E9B-A0DE-85ADECC6A5A8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A0F0A-3EE3-4C1E-AB9F-0A8B57237508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BFC68-A0FB-4D1F-ADBD-5625121893D9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E33A8C-0C62-4D27-8AA6-18C9B8580622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1. 개발 개요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배경과 필요성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1C0AED-20E8-481F-AC2C-CE648FCFEA9A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배경과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B9EC73-305C-4601-B9C3-10654C8FFDD2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0A4AB23-6057-422F-8B94-11D01E77FEF7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13584-7318-495D-B69F-8C21423485A8}"/>
              </a:ext>
            </a:extLst>
          </p:cNvPr>
          <p:cNvSpPr>
            <a:spLocks noGrp="1"/>
          </p:cNvSpPr>
          <p:nvPr/>
        </p:nvSpPr>
        <p:spPr>
          <a:xfrm>
            <a:off x="640080" y="1508760"/>
            <a:ext cx="2468879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000" b="1" i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2~3배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E488C6-2572-40AF-B01E-7E6EAD8889D7}"/>
              </a:ext>
            </a:extLst>
          </p:cNvPr>
          <p:cNvSpPr>
            <a:spLocks noGrp="1"/>
          </p:cNvSpPr>
          <p:nvPr/>
        </p:nvSpPr>
        <p:spPr>
          <a:xfrm>
            <a:off x="640080" y="2212848"/>
            <a:ext cx="2468879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직사광선 아래 차량 실내 온도</a:t>
            </a:r>
            <a:b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(외기 대비 상승 배율)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5B99400-050F-4A51-ACCC-AFECE23A26C0}"/>
              </a:ext>
            </a:extLst>
          </p:cNvPr>
          <p:cNvSpPr>
            <a:spLocks noGrp="1"/>
          </p:cNvSpPr>
          <p:nvPr/>
        </p:nvSpPr>
        <p:spPr>
          <a:xfrm>
            <a:off x="3383280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0176B8-D21B-4AC0-BFE6-00D89B4BC135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468879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000" b="1" i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1,000명+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DD6A1-A710-4078-95FE-939D37F39A35}"/>
              </a:ext>
            </a:extLst>
          </p:cNvPr>
          <p:cNvSpPr>
            <a:spLocks noGrp="1"/>
          </p:cNvSpPr>
          <p:nvPr/>
        </p:nvSpPr>
        <p:spPr>
          <a:xfrm>
            <a:off x="3474720" y="2212848"/>
            <a:ext cx="2468879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1998년 이후 미국 고온 차량</a:t>
            </a:r>
            <a:b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아동 사망 (NHTSA)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8C7691-B48F-4970-A06C-7E32C8F3824A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0F3236-A251-4E4B-9B02-90960ACF21C5}"/>
              </a:ext>
            </a:extLst>
          </p:cNvPr>
          <p:cNvSpPr>
            <a:spLocks noGrp="1"/>
          </p:cNvSpPr>
          <p:nvPr/>
        </p:nvSpPr>
        <p:spPr>
          <a:xfrm>
            <a:off x="6309359" y="1508760"/>
            <a:ext cx="2468879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0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E9E222-849F-4988-83D7-648E3C6413CC}"/>
              </a:ext>
            </a:extLst>
          </p:cNvPr>
          <p:cNvSpPr>
            <a:spLocks noGrp="1"/>
          </p:cNvSpPr>
          <p:nvPr/>
        </p:nvSpPr>
        <p:spPr>
          <a:xfrm>
            <a:off x="6309359" y="2212848"/>
            <a:ext cx="2468879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Euro NCAP 어린이 잔류 감지</a:t>
            </a:r>
            <a:b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(CPD) 평가 항목 포함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AB6B33-CB90-464E-B3FD-8DB72D14CDD9}"/>
              </a:ext>
            </a:extLst>
          </p:cNvPr>
          <p:cNvSpPr>
            <a:spLocks noGrp="1"/>
          </p:cNvSpPr>
          <p:nvPr/>
        </p:nvSpPr>
        <p:spPr>
          <a:xfrm>
            <a:off x="9052560" y="1417320"/>
            <a:ext cx="2587752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C121EA-C3AD-4B9C-8A38-EBD80178B574}"/>
              </a:ext>
            </a:extLst>
          </p:cNvPr>
          <p:cNvSpPr>
            <a:spLocks noGrp="1"/>
          </p:cNvSpPr>
          <p:nvPr/>
        </p:nvSpPr>
        <p:spPr>
          <a:xfrm>
            <a:off x="9144000" y="1508760"/>
            <a:ext cx="2404872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0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2019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09A1E4-50AD-4819-B100-D88020F5F9F0}"/>
              </a:ext>
            </a:extLst>
          </p:cNvPr>
          <p:cNvSpPr>
            <a:spLocks noGrp="1"/>
          </p:cNvSpPr>
          <p:nvPr/>
        </p:nvSpPr>
        <p:spPr>
          <a:xfrm>
            <a:off x="9144000" y="2212848"/>
            <a:ext cx="2404872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국내 어린이 통학차량</a:t>
            </a:r>
            <a:b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하차 확인 장치 의무화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A232BF-59B1-4EA5-ACB6-97ABDA54F8DC}"/>
              </a:ext>
            </a:extLst>
          </p:cNvPr>
          <p:cNvSpPr>
            <a:spLocks noGrp="1"/>
          </p:cNvSpPr>
          <p:nvPr/>
        </p:nvSpPr>
        <p:spPr>
          <a:xfrm>
            <a:off x="548640" y="306324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기존 방식의 한계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F37CA-2711-4537-A58D-BBFF4CD76667}"/>
              </a:ext>
            </a:extLst>
          </p:cNvPr>
          <p:cNvSpPr>
            <a:spLocks noGrp="1"/>
          </p:cNvSpPr>
          <p:nvPr/>
        </p:nvSpPr>
        <p:spPr>
          <a:xfrm>
            <a:off x="804672" y="3520440"/>
            <a:ext cx="5212080" cy="2743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4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단일 센서 의존 </a:t>
            </a:r>
            <a:r>
              <a:rPr sz="14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PIR은 정지한 아이를, 카메라는 어둠, 가림을 놓친다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4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상시 구동 </a:t>
            </a:r>
            <a:r>
              <a:rPr sz="14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모든 센서를 계속 켜 두면 주차 중 배터리 부담이 크다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4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사후 대응 </a:t>
            </a:r>
            <a:r>
              <a:rPr sz="14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‘현재 온도 &gt; 기준’이면 이미 위험 구간에 들어선 뒤다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4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단순 알림 </a:t>
            </a:r>
            <a:r>
              <a:rPr sz="14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알림만 보내고 실내 환경을 직접 바꾸지 못한다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B2DA34-0159-426C-87EA-3143D0D1EB50}"/>
              </a:ext>
            </a:extLst>
          </p:cNvPr>
          <p:cNvSpPr>
            <a:spLocks noGrp="1"/>
          </p:cNvSpPr>
          <p:nvPr/>
        </p:nvSpPr>
        <p:spPr>
          <a:xfrm>
            <a:off x="6217920" y="3063240"/>
            <a:ext cx="5422392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개발 동기와 필요성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2F894A-1EBF-4509-B2CF-33DD3CF340AA}"/>
              </a:ext>
            </a:extLst>
          </p:cNvPr>
          <p:cNvSpPr>
            <a:spLocks noGrp="1"/>
          </p:cNvSpPr>
          <p:nvPr/>
        </p:nvSpPr>
        <p:spPr>
          <a:xfrm>
            <a:off x="6473952" y="3520440"/>
            <a:ext cx="5148072" cy="2743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4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동기 </a:t>
            </a:r>
            <a:r>
              <a:rPr sz="14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‘잠깐이면 괜찮겠지’ 하는 순간의 사고를 막으려면, 보호자가 차를 떠나는 시점부터 자동으로 확인하는 장치가 필요하다고 판단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4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필요성 </a:t>
            </a:r>
            <a:r>
              <a:rPr sz="14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CPD 규제, 평가가 본격화되어, 기존 차량에도 붙일 수 있는 저가, 저전력 잔류 감지 모듈의 수요가 생긴다</a:t>
            </a:r>
          </a:p>
        </p:txBody>
      </p:sp>
    </p:spTree>
    <p:extLst>
      <p:ext uri="{BB962C8B-B14F-4D97-AF65-F5344CB8AC3E}">
        <p14:creationId xmlns:p14="http://schemas.microsoft.com/office/powerpoint/2010/main" val="142122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798B5-9D50-4058-A847-CEC4AE799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AD201-A3C1-48A2-AC1E-567058CD459B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C4D24-9CD1-437F-9C9A-DE8598B7D93F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6A21F-961E-40AD-8BA0-260A1337A1ED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44E65-EA5D-42B1-96CD-30D0740071BD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EFF8E-FE44-464D-A045-A9D6CC8AC12F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B8B48-9932-405D-879C-BEF5ECCBD849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6A9722-D109-475F-93D4-0048DAAD8A45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1E643-E5BC-403C-AC61-AB9193EEEBCA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809B1-448F-43EB-93F2-994383B49DF6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1. 개발 개요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작품 요약, 소스코드, 시연 영상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C70CD-48FD-42D4-9113-96240CA73C3D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작품 요약, 소스코드, 시연 영상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7A152-37AD-4614-BF15-557BA4483ECC}"/>
              </a:ext>
            </a:extLst>
          </p:cNvPr>
          <p:cNvSpPr>
            <a:spLocks noGrp="1"/>
          </p:cNvSpPr>
          <p:nvPr/>
        </p:nvSpPr>
        <p:spPr>
          <a:xfrm>
            <a:off x="502920" y="6392053"/>
            <a:ext cx="10607040" cy="27238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 dirty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300" b="1" i="0" dirty="0" err="1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300" b="1" i="0" dirty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    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전동차</a:t>
            </a:r>
            <a:r>
              <a:rPr sz="1350" b="1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시제품을</a:t>
            </a:r>
            <a:r>
              <a:rPr sz="1350" b="1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제작하고</a:t>
            </a:r>
            <a:r>
              <a:rPr sz="1350" b="1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350" b="1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차량에</a:t>
            </a:r>
            <a:r>
              <a:rPr sz="1350" b="1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동작을</a:t>
            </a:r>
            <a:r>
              <a:rPr sz="1350" b="1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확인했다</a:t>
            </a:r>
            <a:endParaRPr sz="1350" b="1" i="0" dirty="0">
              <a:solidFill>
                <a:srgbClr val="2222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9438-07C4-46A0-9026-4FA9401481ED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C926CB-2222-4B15-8B16-D9BFAFD0E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" y="1316736"/>
            <a:ext cx="3545586" cy="47274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EC718F-3D9E-4132-94CD-FC22F77FEB82}"/>
              </a:ext>
            </a:extLst>
          </p:cNvPr>
          <p:cNvSpPr>
            <a:spLocks noGrp="1"/>
          </p:cNvSpPr>
          <p:nvPr/>
        </p:nvSpPr>
        <p:spPr>
          <a:xfrm>
            <a:off x="457200" y="6062472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2. 시연 시제품 전체 (2026.10.28)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1BCB4A-EE88-4F60-92AE-378559536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400300"/>
            <a:ext cx="1920240" cy="25603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EEB62C-BFA7-4943-B2D4-53F2ABE166D3}"/>
              </a:ext>
            </a:extLst>
          </p:cNvPr>
          <p:cNvSpPr>
            <a:spLocks noGrp="1"/>
          </p:cNvSpPr>
          <p:nvPr/>
        </p:nvSpPr>
        <p:spPr>
          <a:xfrm>
            <a:off x="4251960" y="6062472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3. 운전대 앞 레이더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137E6DD-1707-462D-844D-2F0C1C377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788763"/>
              </p:ext>
            </p:extLst>
          </p:nvPr>
        </p:nvGraphicFramePr>
        <p:xfrm>
          <a:off x="6537960" y="1280160"/>
          <a:ext cx="510235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5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작품명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SafeGuard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부문 / 주제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자동차/모빌리티 (차량 내부 및 외부 정보 활용)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하드웨어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5, ESP32, TI IWR6843ISK-ODS, DWM1001-DEV ×2, Camera Module 3, PIR, SHT31, 12V 팬, 부저, 서보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소프트웨어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C++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상태기계와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열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관측기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Python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허브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레이더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TLV </a:t>
                      </a:r>
                      <a:endParaRPr lang="en-US" sz="1050" b="0" dirty="0">
                        <a:solidFill>
                          <a:srgbClr val="222222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>
                        <a:buNone/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차분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대시보드</a:t>
                      </a:r>
                      <a:endParaRPr sz="1050" b="0" dirty="0">
                        <a:solidFill>
                          <a:srgbClr val="222222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플랫폼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유아용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전동차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인형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잔류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탑승자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A624D18-765B-43C5-9856-BADDD4E7C358}"/>
              </a:ext>
            </a:extLst>
          </p:cNvPr>
          <p:cNvSpPr>
            <a:spLocks noGrp="1"/>
          </p:cNvSpPr>
          <p:nvPr/>
        </p:nvSpPr>
        <p:spPr>
          <a:xfrm>
            <a:off x="6537960" y="4297680"/>
            <a:ext cx="5102352" cy="16002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2ACEF-AC9D-4982-8651-10E4EC613F4C}"/>
              </a:ext>
            </a:extLst>
          </p:cNvPr>
          <p:cNvSpPr>
            <a:spLocks noGrp="1"/>
          </p:cNvSpPr>
          <p:nvPr/>
        </p:nvSpPr>
        <p:spPr>
          <a:xfrm>
            <a:off x="6720840" y="438912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소스코드 (GitHub)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C9589B-FD12-4374-B8CF-2124DB104BDC}"/>
              </a:ext>
            </a:extLst>
          </p:cNvPr>
          <p:cNvSpPr>
            <a:spLocks noGrp="1"/>
          </p:cNvSpPr>
          <p:nvPr/>
        </p:nvSpPr>
        <p:spPr>
          <a:xfrm>
            <a:off x="6720840" y="47091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github.com/SafeGuard-EWHA/2026ESWContest_mobility_DugoNaerijiMarajo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D5EC3C-4DCB-4742-9B12-5FCFB4D4EDA7}"/>
              </a:ext>
            </a:extLst>
          </p:cNvPr>
          <p:cNvSpPr>
            <a:spLocks noGrp="1"/>
          </p:cNvSpPr>
          <p:nvPr/>
        </p:nvSpPr>
        <p:spPr>
          <a:xfrm>
            <a:off x="6720840" y="5120640"/>
            <a:ext cx="4846320" cy="2643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 dirty="0" err="1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300" b="1" i="0" dirty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1" i="0" dirty="0" err="1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동영상</a:t>
            </a:r>
            <a:r>
              <a:rPr sz="1300" b="1" i="0" dirty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 (YouTube)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F7FF6-2DA1-4706-BC6C-E6FAA7C6A8DA}"/>
              </a:ext>
            </a:extLst>
          </p:cNvPr>
          <p:cNvSpPr>
            <a:spLocks noGrp="1"/>
          </p:cNvSpPr>
          <p:nvPr/>
        </p:nvSpPr>
        <p:spPr>
          <a:xfrm>
            <a:off x="6720840" y="5440680"/>
            <a:ext cx="4846320" cy="2321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</a:t>
            </a:r>
            <a:r>
              <a:rPr sz="11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1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영상</a:t>
            </a:r>
            <a:r>
              <a:rPr sz="11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 (2026.10.28, </a:t>
            </a:r>
            <a:r>
              <a:rPr lang="ko-KR" altLang="en-US" sz="11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별도첨부 </a:t>
            </a:r>
            <a:r>
              <a:rPr sz="1100" b="0" i="0" dirty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352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0974D-9F6D-4A90-A7DB-572045907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2A9D4-718A-4A66-B58E-8902BD2853CA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91632-4E20-44B3-B27D-7263002151A6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FA6B0-C52C-47D5-888C-D8A220948233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17B85-E7B7-4951-9EDD-DD3E433FE4B0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38328-1359-444C-9562-2C4A0A55EEB4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37F22-3BB9-47BF-B7C3-C1BDAEADB3C4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D2CBD-6114-46CA-8F44-8289FAC624C2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034EAC-4E37-4AD5-8B99-70FC69A7C585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updated-text">
            <a:extLst>
              <a:ext uri="{FF2B5EF4-FFF2-40B4-BE49-F238E27FC236}">
                <a16:creationId xmlns:a16="http://schemas.microsoft.com/office/drawing/2014/main" id="{8E11CE0B-44F7-4BDC-97BC-EBF2A23E3C3F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실차 적용 및 시연</a:t>
            </a:r>
          </a:p>
        </p:txBody>
      </p:sp>
      <p:sp>
        <p:nvSpPr>
          <p:cNvPr id="12" name="updated-text">
            <a:extLst>
              <a:ext uri="{FF2B5EF4-FFF2-40B4-BE49-F238E27FC236}">
                <a16:creationId xmlns:a16="http://schemas.microsoft.com/office/drawing/2014/main" id="{DFCE1A09-03E4-41A6-B2AD-FBF5EFA1415A}"/>
              </a:ext>
            </a:extLst>
          </p:cNvPr>
          <p:cNvSpPr>
            <a:spLocks noGrp="1"/>
          </p:cNvSpPr>
          <p:nvPr/>
        </p:nvSpPr>
        <p:spPr>
          <a:xfrm>
            <a:off x="514350" y="1057275"/>
            <a:ext cx="1123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 장착과 센서 배치</a:t>
            </a:r>
          </a:p>
        </p:txBody>
      </p:sp>
      <p:sp>
        <p:nvSpPr>
          <p:cNvPr id="13" name="updated-text">
            <a:extLst>
              <a:ext uri="{FF2B5EF4-FFF2-40B4-BE49-F238E27FC236}">
                <a16:creationId xmlns:a16="http://schemas.microsoft.com/office/drawing/2014/main" id="{673B1D51-2D86-4388-AF29-567D4858098D}"/>
              </a:ext>
            </a:extLst>
          </p:cNvPr>
          <p:cNvSpPr>
            <a:spLocks noGrp="1"/>
          </p:cNvSpPr>
          <p:nvPr/>
        </p:nvSpPr>
        <p:spPr>
          <a:xfrm>
            <a:off x="533400" y="1514475"/>
            <a:ext cx="1114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350" b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차량의</a:t>
            </a:r>
            <a:r>
              <a:rPr sz="1350" b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센터콘솔에</a:t>
            </a:r>
            <a:r>
              <a:rPr sz="1350" b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감지부와</a:t>
            </a:r>
            <a:r>
              <a:rPr sz="1350" b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출력부</a:t>
            </a:r>
            <a:r>
              <a:rPr sz="1350" b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설치</a:t>
            </a:r>
            <a:endParaRPr sz="1350" b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updated-text">
            <a:extLst>
              <a:ext uri="{FF2B5EF4-FFF2-40B4-BE49-F238E27FC236}">
                <a16:creationId xmlns:a16="http://schemas.microsoft.com/office/drawing/2014/main" id="{4F09ED04-8114-4EAF-8657-1428DE88479C}"/>
              </a:ext>
            </a:extLst>
          </p:cNvPr>
          <p:cNvSpPr>
            <a:spLocks noGrp="1"/>
          </p:cNvSpPr>
          <p:nvPr/>
        </p:nvSpPr>
        <p:spPr>
          <a:xfrm>
            <a:off x="523875" y="64198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전동차에서 구성한 센서와 제어부를 실제 차량으로 옮겨 장착했다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F6D1583-AA3F-4262-978E-CB27CB244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7313" y="1971675"/>
            <a:ext cx="5143500" cy="38576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A91405B-2B76-4525-96F4-69B96885F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724775" y="2190750"/>
            <a:ext cx="2657475" cy="3543300"/>
          </a:xfrm>
          <a:prstGeom prst="rect">
            <a:avLst/>
          </a:prstGeom>
        </p:spPr>
      </p:pic>
      <p:sp>
        <p:nvSpPr>
          <p:cNvPr id="17" name="updated-text">
            <a:extLst>
              <a:ext uri="{FF2B5EF4-FFF2-40B4-BE49-F238E27FC236}">
                <a16:creationId xmlns:a16="http://schemas.microsoft.com/office/drawing/2014/main" id="{74648D69-FBD2-4991-A8CA-1CD7E9172A0F}"/>
              </a:ext>
            </a:extLst>
          </p:cNvPr>
          <p:cNvSpPr>
            <a:spLocks noGrp="1"/>
          </p:cNvSpPr>
          <p:nvPr/>
        </p:nvSpPr>
        <p:spPr>
          <a:xfrm>
            <a:off x="619125" y="5962650"/>
            <a:ext cx="6667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 설치 전경</a:t>
            </a:r>
          </a:p>
        </p:txBody>
      </p:sp>
      <p:sp>
        <p:nvSpPr>
          <p:cNvPr id="18" name="updated-text">
            <a:extLst>
              <a:ext uri="{FF2B5EF4-FFF2-40B4-BE49-F238E27FC236}">
                <a16:creationId xmlns:a16="http://schemas.microsoft.com/office/drawing/2014/main" id="{1E799D69-BD77-4057-86AD-7A9E8115A3A3}"/>
              </a:ext>
            </a:extLst>
          </p:cNvPr>
          <p:cNvSpPr>
            <a:spLocks noGrp="1"/>
          </p:cNvSpPr>
          <p:nvPr/>
        </p:nvSpPr>
        <p:spPr>
          <a:xfrm>
            <a:off x="7639050" y="6067425"/>
            <a:ext cx="3886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센서 보드와 출력부 배치</a:t>
            </a:r>
          </a:p>
        </p:txBody>
      </p:sp>
      <p:sp>
        <p:nvSpPr>
          <p:cNvPr id="19" name="updated-text">
            <a:extLst>
              <a:ext uri="{FF2B5EF4-FFF2-40B4-BE49-F238E27FC236}">
                <a16:creationId xmlns:a16="http://schemas.microsoft.com/office/drawing/2014/main" id="{C7547F72-EC4B-4C93-81F8-FC2994C58D84}"/>
              </a:ext>
            </a:extLst>
          </p:cNvPr>
          <p:cNvSpPr>
            <a:spLocks noGrp="1"/>
          </p:cNvSpPr>
          <p:nvPr/>
        </p:nvSpPr>
        <p:spPr>
          <a:xfrm>
            <a:off x="11249025" y="648652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604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39A649-F398-4781-B365-980F8F47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6921BF-271F-458A-8151-96BBAD27D30A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B54BA-9CA7-4844-9FA4-C5BF4BEE8471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8AEE3-E0D1-4EA7-B2EA-4D6205517212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ABD87-01CF-4CE2-AB82-19714F8C92DC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71007-B113-4700-AF8A-E012CB717478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16397-BDC5-4CEC-BA63-4A597AF71371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E3D24-9BCE-4CDE-BB17-B1C5E60C4789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8F25B-1DB9-4A9B-8F72-17E9615F3792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79474-D579-40C5-A0C6-6A032D8E1373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2. 개발 환경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하드웨어 구성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F9D2D-0855-4A88-88B5-0573F50F7895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하드웨어 구성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B4A84D-3F67-43A7-91F6-52D66D12BF71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3개 블록으로 나눠 각자 검증한 뒤 Pi 5에서 합쳤다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F618D-95EA-437A-BA40-CA53689855C0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00302B-D895-4FEC-B194-060F646E5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638681"/>
              </p:ext>
            </p:extLst>
          </p:nvPr>
        </p:nvGraphicFramePr>
        <p:xfrm>
          <a:off x="548640" y="1325880"/>
          <a:ext cx="699516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9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7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블록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역할, 연결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B: 판단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 (16 GB)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FSM, 온도 예측, 로그, 보호자 알림, 상시 ON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B: 감지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 IWR6843ISK-ODS (60 GHz)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존재 검증. USB(CP2105) CLI 115200 / 데이터 921600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B: 감지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Camera Module 3 (imx708)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차분 움직임 검출 (1차 감지)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노드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ESP32 #1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PIR, SHT31 수집, 팬, 부저, 서보 구동, 시리얼 JSON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감지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 EKMC4607112K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감지 (GPIO27, 풀다운)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감지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SHT31 온습도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실내 온도 → RC 예측 입력 (I2C 0x45)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구동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IRLZ44N MOSFET ×2, 12V 팬, 부저, DS3218 서보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능동 대응. 퓨즈 → 부하, 정지는 소프트웨어 전체 정지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C: 이탈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DWM1001-DEV ×2 (UWB)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차량측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TAG(Pi USB) ↔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보호자측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ANCHOR(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보조배터리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29B5EE4-C175-455E-8F02-E040E005C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388108"/>
            <a:ext cx="1938528" cy="25847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837E52-E591-410F-8C8B-50CC8269EA75}"/>
              </a:ext>
            </a:extLst>
          </p:cNvPr>
          <p:cNvSpPr>
            <a:spLocks noGrp="1"/>
          </p:cNvSpPr>
          <p:nvPr/>
        </p:nvSpPr>
        <p:spPr>
          <a:xfrm>
            <a:off x="7406640" y="6016752"/>
            <a:ext cx="221284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4. UWB, 카메라, Pi 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5962FD-08C4-4180-A462-A0B07F0D4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4" y="2388108"/>
            <a:ext cx="1938528" cy="25847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0075F9D-D949-4D3A-A37B-70C5C3E3B024}"/>
              </a:ext>
            </a:extLst>
          </p:cNvPr>
          <p:cNvSpPr>
            <a:spLocks noGrp="1"/>
          </p:cNvSpPr>
          <p:nvPr/>
        </p:nvSpPr>
        <p:spPr>
          <a:xfrm>
            <a:off x="9518904" y="6016752"/>
            <a:ext cx="221284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5. ESP32, PIR, 온습도</a:t>
            </a:r>
          </a:p>
        </p:txBody>
      </p:sp>
    </p:spTree>
    <p:extLst>
      <p:ext uri="{BB962C8B-B14F-4D97-AF65-F5344CB8AC3E}">
        <p14:creationId xmlns:p14="http://schemas.microsoft.com/office/powerpoint/2010/main" val="1452464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6DC43D-C72B-4671-BB93-2F9688A1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4D352E-A2AE-405B-9085-420F91604661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21F82-9A3A-473C-BD25-0E7CE212685F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BDFC6-3388-46A3-81A3-8E79160DC735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978B9-260B-4389-9271-C8E5417CE67F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BC6B8-3434-4C4D-9039-9687F634F355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96502-7464-4FBA-85E2-0D735C3223A6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C9596-63EB-4506-A08F-30D0B1812F06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92948-8A3E-410C-A0F5-4FF47155421D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1B69E-44CF-42F5-8D1D-98D0589A23F0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2. 개발 환경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전원과 배선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C9973-986A-445C-BC74-0EA0C7FA6305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전원과 배선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12V 구동부와 3.3V/5V 로직부 분리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4CCDF-E6CF-43FB-8E93-3765F57C26DC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12V 구동부는 소프트웨어 전체 정지로 끈다 (물리 비상정지는 제안 회로)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4602C-5B4D-47AA-8D23-6633824AE6D6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82E17-D75E-4319-BEF5-CB32E80D1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413" y="1362456"/>
            <a:ext cx="3256853" cy="29443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96F9F3-1FB1-42B1-BE57-3BE6279A5748}"/>
              </a:ext>
            </a:extLst>
          </p:cNvPr>
          <p:cNvSpPr>
            <a:spLocks noGrp="1"/>
          </p:cNvSpPr>
          <p:nvPr/>
        </p:nvSpPr>
        <p:spPr>
          <a:xfrm>
            <a:off x="457200" y="4325112"/>
            <a:ext cx="5669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6. 블록 A 배선: 배선 설계도 (비상정지(NC)는 제안 회로, 현재는 소프트웨어 전체 정지)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972784-9AA3-4F33-8822-1DF7367C2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706880"/>
            <a:ext cx="1691639" cy="22555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79A8B5-D49C-4A67-8E73-01417829EAD0}"/>
              </a:ext>
            </a:extLst>
          </p:cNvPr>
          <p:cNvSpPr>
            <a:spLocks noGrp="1"/>
          </p:cNvSpPr>
          <p:nvPr/>
        </p:nvSpPr>
        <p:spPr>
          <a:xfrm>
            <a:off x="6126480" y="4325112"/>
            <a:ext cx="1965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7. ESP32 노드 (10.28)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4F1501-FB6C-4229-ABC7-29C1A2DD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737360"/>
            <a:ext cx="1645919" cy="21945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192E1F6-AD33-4AEA-96B8-A34E2BA5F6F0}"/>
              </a:ext>
            </a:extLst>
          </p:cNvPr>
          <p:cNvSpPr>
            <a:spLocks noGrp="1"/>
          </p:cNvSpPr>
          <p:nvPr/>
        </p:nvSpPr>
        <p:spPr>
          <a:xfrm>
            <a:off x="8001000" y="4325112"/>
            <a:ext cx="1920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8. SHT31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975CEA-3D7E-43B6-852E-FCE8A7517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1749552"/>
            <a:ext cx="1627631" cy="21701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6094539-AA61-4A58-BC5F-CCF201F03810}"/>
              </a:ext>
            </a:extLst>
          </p:cNvPr>
          <p:cNvSpPr>
            <a:spLocks noGrp="1"/>
          </p:cNvSpPr>
          <p:nvPr/>
        </p:nvSpPr>
        <p:spPr>
          <a:xfrm>
            <a:off x="9829800" y="4325112"/>
            <a:ext cx="190195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9. 12V 컨버터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0173768-FE5C-435F-A747-EE1CE6E242E3}"/>
              </a:ext>
            </a:extLst>
          </p:cNvPr>
          <p:cNvGraphicFramePr/>
          <p:nvPr/>
        </p:nvGraphicFramePr>
        <p:xfrm>
          <a:off x="548640" y="4800600"/>
          <a:ext cx="11091668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1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3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ESP32 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SHT31 SDA/SCL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팬 MOSFET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부저 MOSFET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↔ ESP32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 (INPUT_PULLDOWN)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 / 33 (I2C 0x45)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시리얼 JSON 115200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 예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{"pir":1}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{"temp":31.2,"hum":48}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FAN 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BUZ 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SRV 80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→ ACK 회신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20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0867A5-39DF-435E-B0FF-2812C1659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206772-218D-4E4E-9F6C-04BDCEEA2500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A209E-1708-4D70-B9FA-BE4ADE8289C7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EE22C-C559-41E5-84E1-DC4181A90637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B8912-AF66-4CED-9102-DC470B072F5B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CB2CD-3E13-4284-AAB6-39A41F0E4D21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5FC4A-0326-435F-A91B-20057165F689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D5244-5032-4497-AB6F-62F155A367A9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1A312-DC0D-4E0C-AA96-A5066ADDE869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903C1-CBD7-4109-BF09-61A4440E5962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2. 개발 환경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시스템 구성도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96708-4344-464B-9352-902E143B4114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시스템 구성도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실선 = 유선, 점선 = 무선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8E2B1-E965-4129-A0EF-BF1CAA6EE023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판단은 Pi 5, 실시간 입출력은 ESP32가 맡는다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AFA7F-1D73-48CC-AC57-79F869E63D3C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F02B104-B383-4214-9300-F5E0D23CFD2D}"/>
              </a:ext>
            </a:extLst>
          </p:cNvPr>
          <p:cNvSpPr>
            <a:spLocks noGrp="1"/>
          </p:cNvSpPr>
          <p:nvPr/>
        </p:nvSpPr>
        <p:spPr>
          <a:xfrm>
            <a:off x="548640" y="1280160"/>
            <a:ext cx="8595360" cy="457200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3E588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670143-6336-42A6-B667-4589C3E46799}"/>
              </a:ext>
            </a:extLst>
          </p:cNvPr>
          <p:cNvSpPr>
            <a:spLocks noGrp="1"/>
          </p:cNvSpPr>
          <p:nvPr/>
        </p:nvSpPr>
        <p:spPr>
          <a:xfrm>
            <a:off x="658368" y="1316736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1" i="0">
                <a:solidFill>
                  <a:srgbClr val="3E5886"/>
                </a:solidFill>
                <a:latin typeface="Malgun Gothic"/>
                <a:ea typeface="Malgun Gothic"/>
                <a:cs typeface="Malgun Gothic"/>
              </a:rPr>
              <a:t>차량 내부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8769581-F288-400F-9DB8-76A5CC24081A}"/>
              </a:ext>
            </a:extLst>
          </p:cNvPr>
          <p:cNvSpPr>
            <a:spLocks noGrp="1"/>
          </p:cNvSpPr>
          <p:nvPr/>
        </p:nvSpPr>
        <p:spPr>
          <a:xfrm>
            <a:off x="9326880" y="1280160"/>
            <a:ext cx="2313432" cy="457200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2E8B5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0E1CB-AD77-429A-AD7B-AD471C57BAA2}"/>
              </a:ext>
            </a:extLst>
          </p:cNvPr>
          <p:cNvSpPr>
            <a:spLocks noGrp="1"/>
          </p:cNvSpPr>
          <p:nvPr/>
        </p:nvSpPr>
        <p:spPr>
          <a:xfrm>
            <a:off x="9436607" y="1316736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1" i="0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보호자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8283711-F6E8-4578-87BE-9D62BA361498}"/>
              </a:ext>
            </a:extLst>
          </p:cNvPr>
          <p:cNvSpPr>
            <a:spLocks noGrp="1"/>
          </p:cNvSpPr>
          <p:nvPr/>
        </p:nvSpPr>
        <p:spPr>
          <a:xfrm>
            <a:off x="731520" y="160020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21379DE-89CD-4892-B915-935D8BAF9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967955"/>
            <a:ext cx="731520" cy="36176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4EA141C-A32B-4AE8-9EE8-A9F6BFDACED3}"/>
              </a:ext>
            </a:extLst>
          </p:cNvPr>
          <p:cNvSpPr>
            <a:spLocks noGrp="1"/>
          </p:cNvSpPr>
          <p:nvPr/>
        </p:nvSpPr>
        <p:spPr>
          <a:xfrm>
            <a:off x="1645920" y="1709928"/>
            <a:ext cx="1252727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AC6D04-CABA-4602-AD31-FB98D130A116}"/>
              </a:ext>
            </a:extLst>
          </p:cNvPr>
          <p:cNvSpPr>
            <a:spLocks noGrp="1"/>
          </p:cNvSpPr>
          <p:nvPr/>
        </p:nvSpPr>
        <p:spPr>
          <a:xfrm>
            <a:off x="1645920" y="2057400"/>
            <a:ext cx="1252727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Camera Module 3</a:t>
            </a:r>
            <a:b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움직임 1차 감지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7665BA4-33D1-4C02-8F96-9684BCE6EC01}"/>
              </a:ext>
            </a:extLst>
          </p:cNvPr>
          <p:cNvSpPr>
            <a:spLocks noGrp="1"/>
          </p:cNvSpPr>
          <p:nvPr/>
        </p:nvSpPr>
        <p:spPr>
          <a:xfrm>
            <a:off x="731520" y="306324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826EA9A-B179-4F86-BDAD-6DA94F6E1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393728"/>
            <a:ext cx="731520" cy="43630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D8BB413-7409-486D-B62A-9A20006E9174}"/>
              </a:ext>
            </a:extLst>
          </p:cNvPr>
          <p:cNvSpPr>
            <a:spLocks noGrp="1"/>
          </p:cNvSpPr>
          <p:nvPr/>
        </p:nvSpPr>
        <p:spPr>
          <a:xfrm>
            <a:off x="1645920" y="3172968"/>
            <a:ext cx="1252727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60 GHz 레이더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13A692-BF7C-40F4-B504-B5724DC9F450}"/>
              </a:ext>
            </a:extLst>
          </p:cNvPr>
          <p:cNvSpPr>
            <a:spLocks noGrp="1"/>
          </p:cNvSpPr>
          <p:nvPr/>
        </p:nvSpPr>
        <p:spPr>
          <a:xfrm>
            <a:off x="1645920" y="3520440"/>
            <a:ext cx="1252727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IWR6843ISK-ODS</a:t>
            </a:r>
            <a:b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존재 검증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6896A40-2CF5-47C0-A358-1767825E2696}"/>
              </a:ext>
            </a:extLst>
          </p:cNvPr>
          <p:cNvSpPr>
            <a:spLocks noGrp="1"/>
          </p:cNvSpPr>
          <p:nvPr/>
        </p:nvSpPr>
        <p:spPr>
          <a:xfrm>
            <a:off x="731520" y="452628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D2B19BF-728A-4E4D-AA57-92986C1B3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890354"/>
            <a:ext cx="502920" cy="36913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E9D7F45-BE89-4020-AC6A-C32901A48A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" y="4873043"/>
            <a:ext cx="502920" cy="4037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8C6AC64-C6EF-4932-A898-578CB0C3025B}"/>
              </a:ext>
            </a:extLst>
          </p:cNvPr>
          <p:cNvSpPr>
            <a:spLocks noGrp="1"/>
          </p:cNvSpPr>
          <p:nvPr/>
        </p:nvSpPr>
        <p:spPr>
          <a:xfrm>
            <a:off x="1975104" y="4636008"/>
            <a:ext cx="923543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PIR, 온습도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C0CAE1-6416-4704-AB27-A68966384773}"/>
              </a:ext>
            </a:extLst>
          </p:cNvPr>
          <p:cNvSpPr>
            <a:spLocks noGrp="1"/>
          </p:cNvSpPr>
          <p:nvPr/>
        </p:nvSpPr>
        <p:spPr>
          <a:xfrm>
            <a:off x="1975104" y="4983480"/>
            <a:ext cx="923543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1차 감지</a:t>
            </a:r>
            <a:b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SHT31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55FB7D8-9AB3-422F-B741-A054BE9131EF}"/>
              </a:ext>
            </a:extLst>
          </p:cNvPr>
          <p:cNvSpPr>
            <a:spLocks noGrp="1"/>
          </p:cNvSpPr>
          <p:nvPr/>
        </p:nvSpPr>
        <p:spPr>
          <a:xfrm>
            <a:off x="3840480" y="1600200"/>
            <a:ext cx="2697480" cy="2560320"/>
          </a:xfrm>
          <a:prstGeom prst="roundRect">
            <a:avLst>
              <a:gd name="adj" fmla="val 6000"/>
            </a:avLst>
          </a:prstGeom>
          <a:solidFill>
            <a:srgbClr val="2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0C9DB5B-6DEF-43F6-A96C-8747873EAD1B}"/>
              </a:ext>
            </a:extLst>
          </p:cNvPr>
          <p:cNvSpPr>
            <a:spLocks noGrp="1"/>
          </p:cNvSpPr>
          <p:nvPr/>
        </p:nvSpPr>
        <p:spPr>
          <a:xfrm>
            <a:off x="4023360" y="1764792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56D3255-FF22-4D5F-87FE-2C9CC7328A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594" y="1828800"/>
            <a:ext cx="1487251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A15EC4E-FDF3-48D8-90CE-F3C8176A5F94}"/>
              </a:ext>
            </a:extLst>
          </p:cNvPr>
          <p:cNvSpPr>
            <a:spLocks noGrp="1"/>
          </p:cNvSpPr>
          <p:nvPr/>
        </p:nvSpPr>
        <p:spPr>
          <a:xfrm>
            <a:off x="3931920" y="2898648"/>
            <a:ext cx="2514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Raspberry Pi 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CC196B-363C-42AF-A19E-CC1178199809}"/>
              </a:ext>
            </a:extLst>
          </p:cNvPr>
          <p:cNvSpPr>
            <a:spLocks noGrp="1"/>
          </p:cNvSpPr>
          <p:nvPr/>
        </p:nvSpPr>
        <p:spPr>
          <a:xfrm>
            <a:off x="3931920" y="3319272"/>
            <a:ext cx="251460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상태기계(FSM), 35°C 도달 예측</a:t>
            </a:r>
          </a:p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레이더 TLV 해석, 로그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49E0AB-FD24-4EA9-8F6C-36B2213BFA6D}"/>
              </a:ext>
            </a:extLst>
          </p:cNvPr>
          <p:cNvSpPr>
            <a:spLocks noGrp="1"/>
          </p:cNvSpPr>
          <p:nvPr/>
        </p:nvSpPr>
        <p:spPr>
          <a:xfrm>
            <a:off x="3840480" y="45262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4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907E447-C5FB-4DA8-B0D5-C674FA61E3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208" y="4793800"/>
            <a:ext cx="1051560" cy="56223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95DD84A-289D-415C-883B-F01ED5CD2E7A}"/>
              </a:ext>
            </a:extLst>
          </p:cNvPr>
          <p:cNvSpPr>
            <a:spLocks noGrp="1"/>
          </p:cNvSpPr>
          <p:nvPr/>
        </p:nvSpPr>
        <p:spPr>
          <a:xfrm>
            <a:off x="5074920" y="4636008"/>
            <a:ext cx="14173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ESP32 노드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2584C9-B66E-4F90-9781-AD8C68E91940}"/>
              </a:ext>
            </a:extLst>
          </p:cNvPr>
          <p:cNvSpPr>
            <a:spLocks noGrp="1"/>
          </p:cNvSpPr>
          <p:nvPr/>
        </p:nvSpPr>
        <p:spPr>
          <a:xfrm>
            <a:off x="5074920" y="5001768"/>
            <a:ext cx="14173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센서 읽기</a:t>
            </a:r>
            <a:b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</a:br>
            <a: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12V 구동 제어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FD35C89-C00C-4F84-A30D-8F000B1CB883}"/>
              </a:ext>
            </a:extLst>
          </p:cNvPr>
          <p:cNvSpPr>
            <a:spLocks noGrp="1"/>
          </p:cNvSpPr>
          <p:nvPr/>
        </p:nvSpPr>
        <p:spPr>
          <a:xfrm>
            <a:off x="6949440" y="160020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A6ECDB3-CE82-464C-A3C1-C4D00C0E37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1920687"/>
            <a:ext cx="685800" cy="4563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B40A9A7-993D-402F-83E0-1DC2D2FBB722}"/>
              </a:ext>
            </a:extLst>
          </p:cNvPr>
          <p:cNvSpPr>
            <a:spLocks noGrp="1"/>
          </p:cNvSpPr>
          <p:nvPr/>
        </p:nvSpPr>
        <p:spPr>
          <a:xfrm>
            <a:off x="7818119" y="1709928"/>
            <a:ext cx="1115568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UWB 차량측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39D217-527A-4268-8B6A-609717323F7F}"/>
              </a:ext>
            </a:extLst>
          </p:cNvPr>
          <p:cNvSpPr>
            <a:spLocks noGrp="1"/>
          </p:cNvSpPr>
          <p:nvPr/>
        </p:nvSpPr>
        <p:spPr>
          <a:xfrm>
            <a:off x="7818119" y="2057400"/>
            <a:ext cx="11155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DWM1001 TAG</a:t>
            </a:r>
            <a:b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거리 측정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F6A55D6-1A32-41DF-8C14-B35CB8E4054D}"/>
              </a:ext>
            </a:extLst>
          </p:cNvPr>
          <p:cNvSpPr>
            <a:spLocks noGrp="1"/>
          </p:cNvSpPr>
          <p:nvPr/>
        </p:nvSpPr>
        <p:spPr>
          <a:xfrm>
            <a:off x="6949440" y="452628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6B444CA-374F-4C28-8D55-87DFEA186A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168" y="4911976"/>
            <a:ext cx="457200" cy="3258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D3F371E-542D-4FD3-93FC-7926FDE7A8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1231" y="4778616"/>
            <a:ext cx="457200" cy="59260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CFF9CB9-1FB0-41B2-B973-108232D2338D}"/>
              </a:ext>
            </a:extLst>
          </p:cNvPr>
          <p:cNvSpPr>
            <a:spLocks noGrp="1"/>
          </p:cNvSpPr>
          <p:nvPr/>
        </p:nvSpPr>
        <p:spPr>
          <a:xfrm>
            <a:off x="8101583" y="4636008"/>
            <a:ext cx="832103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팬, 부저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89B03C-858A-4945-B152-3B0C16BE11B0}"/>
              </a:ext>
            </a:extLst>
          </p:cNvPr>
          <p:cNvSpPr>
            <a:spLocks noGrp="1"/>
          </p:cNvSpPr>
          <p:nvPr/>
        </p:nvSpPr>
        <p:spPr>
          <a:xfrm>
            <a:off x="8101583" y="4983480"/>
            <a:ext cx="832103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MOSFET</a:t>
            </a:r>
            <a:b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비상정지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4EF828B-C0B9-40C0-99B1-6BF94515F59D}"/>
              </a:ext>
            </a:extLst>
          </p:cNvPr>
          <p:cNvSpPr>
            <a:spLocks noGrp="1"/>
          </p:cNvSpPr>
          <p:nvPr/>
        </p:nvSpPr>
        <p:spPr>
          <a:xfrm>
            <a:off x="9464040" y="160020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EEF5E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E728D83-109A-49D8-98BA-6FC7158F8A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3767" y="1920687"/>
            <a:ext cx="685800" cy="45630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6E69B2B-4E82-4216-B614-A59C03C563D9}"/>
              </a:ext>
            </a:extLst>
          </p:cNvPr>
          <p:cNvSpPr>
            <a:spLocks noGrp="1"/>
          </p:cNvSpPr>
          <p:nvPr/>
        </p:nvSpPr>
        <p:spPr>
          <a:xfrm>
            <a:off x="10332719" y="1709928"/>
            <a:ext cx="1115568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1" i="0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UWB 보호자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85D39B-625B-4059-A86F-55C757388F32}"/>
              </a:ext>
            </a:extLst>
          </p:cNvPr>
          <p:cNvSpPr>
            <a:spLocks noGrp="1"/>
          </p:cNvSpPr>
          <p:nvPr/>
        </p:nvSpPr>
        <p:spPr>
          <a:xfrm>
            <a:off x="10332719" y="2057400"/>
            <a:ext cx="11155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ANCHOR</a:t>
            </a:r>
            <a:b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0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보조배터리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4A90657-316F-42F7-A551-38C0B9C08CFB}"/>
              </a:ext>
            </a:extLst>
          </p:cNvPr>
          <p:cNvSpPr>
            <a:spLocks noGrp="1"/>
          </p:cNvSpPr>
          <p:nvPr/>
        </p:nvSpPr>
        <p:spPr>
          <a:xfrm>
            <a:off x="9464040" y="3063240"/>
            <a:ext cx="2057400" cy="1417319"/>
          </a:xfrm>
          <a:prstGeom prst="roundRect">
            <a:avLst>
              <a:gd name="adj" fmla="val 8000"/>
            </a:avLst>
          </a:prstGeom>
          <a:solidFill>
            <a:srgbClr val="EEF5E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7AE72D1-4A4D-4D36-9D8F-3250A2EE58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8579" y="3154680"/>
            <a:ext cx="1668320" cy="86868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B6662CA-7624-4890-8686-3980DA29E3C7}"/>
              </a:ext>
            </a:extLst>
          </p:cNvPr>
          <p:cNvSpPr>
            <a:spLocks noGrp="1"/>
          </p:cNvSpPr>
          <p:nvPr/>
        </p:nvSpPr>
        <p:spPr>
          <a:xfrm>
            <a:off x="9464040" y="4041648"/>
            <a:ext cx="2057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보호자 알림 화면</a:t>
            </a:r>
          </a:p>
        </p:txBody>
      </p:sp>
      <p:sp>
        <p:nvSpPr>
          <p:cNvPr id="57" name="Connector 56">
            <a:extLst>
              <a:ext uri="{FF2B5EF4-FFF2-40B4-BE49-F238E27FC236}">
                <a16:creationId xmlns:a16="http://schemas.microsoft.com/office/drawing/2014/main" id="{6A6C2B04-24D7-40D1-BBD2-F6AED9653603}"/>
              </a:ext>
            </a:extLst>
          </p:cNvPr>
          <p:cNvSpPr>
            <a:spLocks noGrp="1"/>
          </p:cNvSpPr>
          <p:nvPr/>
        </p:nvSpPr>
        <p:spPr>
          <a:xfrm>
            <a:off x="2971800" y="2148840"/>
            <a:ext cx="868680" cy="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41565A-4FA8-4E25-9FFB-0B5F1106223F}"/>
              </a:ext>
            </a:extLst>
          </p:cNvPr>
          <p:cNvSpPr>
            <a:spLocks noGrp="1"/>
          </p:cNvSpPr>
          <p:nvPr/>
        </p:nvSpPr>
        <p:spPr>
          <a:xfrm>
            <a:off x="2788920" y="1847088"/>
            <a:ext cx="1234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CSI</a:t>
            </a:r>
          </a:p>
        </p:txBody>
      </p:sp>
      <p:sp>
        <p:nvSpPr>
          <p:cNvPr id="59" name="Connector 58">
            <a:extLst>
              <a:ext uri="{FF2B5EF4-FFF2-40B4-BE49-F238E27FC236}">
                <a16:creationId xmlns:a16="http://schemas.microsoft.com/office/drawing/2014/main" id="{F9CDE647-861E-4AFF-B24F-5EED4FD0BEDC}"/>
              </a:ext>
            </a:extLst>
          </p:cNvPr>
          <p:cNvSpPr>
            <a:spLocks noGrp="1"/>
          </p:cNvSpPr>
          <p:nvPr/>
        </p:nvSpPr>
        <p:spPr>
          <a:xfrm>
            <a:off x="2971800" y="3611880"/>
            <a:ext cx="868680" cy="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3876DC-A69F-4671-A44F-A5498D20DF53}"/>
              </a:ext>
            </a:extLst>
          </p:cNvPr>
          <p:cNvSpPr>
            <a:spLocks noGrp="1"/>
          </p:cNvSpPr>
          <p:nvPr/>
        </p:nvSpPr>
        <p:spPr>
          <a:xfrm>
            <a:off x="2788920" y="3310128"/>
            <a:ext cx="1234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USB 921600</a:t>
            </a:r>
          </a:p>
        </p:txBody>
      </p:sp>
      <p:sp>
        <p:nvSpPr>
          <p:cNvPr id="61" name="Connector 60">
            <a:extLst>
              <a:ext uri="{FF2B5EF4-FFF2-40B4-BE49-F238E27FC236}">
                <a16:creationId xmlns:a16="http://schemas.microsoft.com/office/drawing/2014/main" id="{AA1B3BC7-1DD3-48AF-AF71-6A57031FF493}"/>
              </a:ext>
            </a:extLst>
          </p:cNvPr>
          <p:cNvSpPr>
            <a:spLocks noGrp="1"/>
          </p:cNvSpPr>
          <p:nvPr/>
        </p:nvSpPr>
        <p:spPr>
          <a:xfrm>
            <a:off x="2971800" y="5074920"/>
            <a:ext cx="868680" cy="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5347D5-D069-4A5B-A0CD-A2B54FCCFB24}"/>
              </a:ext>
            </a:extLst>
          </p:cNvPr>
          <p:cNvSpPr>
            <a:spLocks noGrp="1"/>
          </p:cNvSpPr>
          <p:nvPr/>
        </p:nvSpPr>
        <p:spPr>
          <a:xfrm>
            <a:off x="2788920" y="4773168"/>
            <a:ext cx="1234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GPIO, I2C</a:t>
            </a:r>
          </a:p>
        </p:txBody>
      </p:sp>
      <p:sp>
        <p:nvSpPr>
          <p:cNvPr id="63" name="Connector 62">
            <a:extLst>
              <a:ext uri="{FF2B5EF4-FFF2-40B4-BE49-F238E27FC236}">
                <a16:creationId xmlns:a16="http://schemas.microsoft.com/office/drawing/2014/main" id="{2973A306-D356-4868-BE57-9BB59DC3464B}"/>
              </a:ext>
            </a:extLst>
          </p:cNvPr>
          <p:cNvSpPr>
            <a:spLocks noGrp="1"/>
          </p:cNvSpPr>
          <p:nvPr/>
        </p:nvSpPr>
        <p:spPr>
          <a:xfrm flipH="1">
            <a:off x="6537960" y="2148840"/>
            <a:ext cx="411480" cy="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F1B464-6770-4B9B-A112-1D0BABAB8193}"/>
              </a:ext>
            </a:extLst>
          </p:cNvPr>
          <p:cNvSpPr>
            <a:spLocks noGrp="1"/>
          </p:cNvSpPr>
          <p:nvPr/>
        </p:nvSpPr>
        <p:spPr>
          <a:xfrm>
            <a:off x="6519672" y="1828800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USB</a:t>
            </a:r>
          </a:p>
        </p:txBody>
      </p:sp>
      <p:sp>
        <p:nvSpPr>
          <p:cNvPr id="65" name="Connector 64">
            <a:extLst>
              <a:ext uri="{FF2B5EF4-FFF2-40B4-BE49-F238E27FC236}">
                <a16:creationId xmlns:a16="http://schemas.microsoft.com/office/drawing/2014/main" id="{2C89C5F6-0029-41C7-BA8D-CBFF63720134}"/>
              </a:ext>
            </a:extLst>
          </p:cNvPr>
          <p:cNvSpPr>
            <a:spLocks noGrp="1"/>
          </p:cNvSpPr>
          <p:nvPr/>
        </p:nvSpPr>
        <p:spPr>
          <a:xfrm flipH="1">
            <a:off x="9006840" y="2148840"/>
            <a:ext cx="457200" cy="0"/>
          </a:xfrm>
          <a:prstGeom prst="line">
            <a:avLst/>
          </a:prstGeom>
          <a:ln w="25400">
            <a:solidFill>
              <a:srgbClr val="2E8B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02FAD5-5C3E-4064-9485-979C4EE202CF}"/>
              </a:ext>
            </a:extLst>
          </p:cNvPr>
          <p:cNvSpPr>
            <a:spLocks noGrp="1"/>
          </p:cNvSpPr>
          <p:nvPr/>
        </p:nvSpPr>
        <p:spPr>
          <a:xfrm>
            <a:off x="8503920" y="1298448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UWB 거리</a:t>
            </a:r>
          </a:p>
        </p:txBody>
      </p:sp>
      <p:sp>
        <p:nvSpPr>
          <p:cNvPr id="67" name="Connector 66">
            <a:extLst>
              <a:ext uri="{FF2B5EF4-FFF2-40B4-BE49-F238E27FC236}">
                <a16:creationId xmlns:a16="http://schemas.microsoft.com/office/drawing/2014/main" id="{3DC7361F-A634-4F64-8932-DA95B10ADB52}"/>
              </a:ext>
            </a:extLst>
          </p:cNvPr>
          <p:cNvSpPr>
            <a:spLocks noGrp="1"/>
          </p:cNvSpPr>
          <p:nvPr/>
        </p:nvSpPr>
        <p:spPr>
          <a:xfrm>
            <a:off x="6537960" y="3749039"/>
            <a:ext cx="2926080" cy="0"/>
          </a:xfrm>
          <a:prstGeom prst="line">
            <a:avLst/>
          </a:prstGeom>
          <a:ln w="25400">
            <a:solidFill>
              <a:srgbClr val="2E8B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F5D357-98DA-479D-A9B8-3B67A2ACB711}"/>
              </a:ext>
            </a:extLst>
          </p:cNvPr>
          <p:cNvSpPr>
            <a:spLocks noGrp="1"/>
          </p:cNvSpPr>
          <p:nvPr/>
        </p:nvSpPr>
        <p:spPr>
          <a:xfrm>
            <a:off x="6675120" y="3410712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Wi-Fi 알림: 위험 단계, 온도, 예상 시간</a:t>
            </a:r>
          </a:p>
        </p:txBody>
      </p:sp>
      <p:sp>
        <p:nvSpPr>
          <p:cNvPr id="69" name="Connector 68">
            <a:extLst>
              <a:ext uri="{FF2B5EF4-FFF2-40B4-BE49-F238E27FC236}">
                <a16:creationId xmlns:a16="http://schemas.microsoft.com/office/drawing/2014/main" id="{F8B2194F-C294-4D22-B6FF-715BFF284E66}"/>
              </a:ext>
            </a:extLst>
          </p:cNvPr>
          <p:cNvSpPr>
            <a:spLocks noGrp="1"/>
          </p:cNvSpPr>
          <p:nvPr/>
        </p:nvSpPr>
        <p:spPr>
          <a:xfrm>
            <a:off x="4937760" y="4160520"/>
            <a:ext cx="0" cy="36576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0ED7F9-3AC8-4388-B3FA-53E200C79B1C}"/>
              </a:ext>
            </a:extLst>
          </p:cNvPr>
          <p:cNvSpPr>
            <a:spLocks noGrp="1"/>
          </p:cNvSpPr>
          <p:nvPr/>
        </p:nvSpPr>
        <p:spPr>
          <a:xfrm>
            <a:off x="5532120" y="4215383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USB 시리얼 JSON</a:t>
            </a:r>
          </a:p>
        </p:txBody>
      </p:sp>
      <p:sp>
        <p:nvSpPr>
          <p:cNvPr id="71" name="Connector 70">
            <a:extLst>
              <a:ext uri="{FF2B5EF4-FFF2-40B4-BE49-F238E27FC236}">
                <a16:creationId xmlns:a16="http://schemas.microsoft.com/office/drawing/2014/main" id="{627BEFAB-D37F-4217-9AB6-4C59F3E37F40}"/>
              </a:ext>
            </a:extLst>
          </p:cNvPr>
          <p:cNvSpPr>
            <a:spLocks noGrp="1"/>
          </p:cNvSpPr>
          <p:nvPr/>
        </p:nvSpPr>
        <p:spPr>
          <a:xfrm flipV="1">
            <a:off x="5440680" y="4160520"/>
            <a:ext cx="0" cy="36576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2" name="Connector 71">
            <a:extLst>
              <a:ext uri="{FF2B5EF4-FFF2-40B4-BE49-F238E27FC236}">
                <a16:creationId xmlns:a16="http://schemas.microsoft.com/office/drawing/2014/main" id="{38EC9014-8F60-4136-A7FB-6FC74892F470}"/>
              </a:ext>
            </a:extLst>
          </p:cNvPr>
          <p:cNvSpPr>
            <a:spLocks noGrp="1"/>
          </p:cNvSpPr>
          <p:nvPr/>
        </p:nvSpPr>
        <p:spPr>
          <a:xfrm>
            <a:off x="6537960" y="5074920"/>
            <a:ext cx="411480" cy="0"/>
          </a:xfrm>
          <a:prstGeom prst="line">
            <a:avLst/>
          </a:prstGeom>
          <a:ln w="25400">
            <a:solidFill>
              <a:srgbClr val="3E5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616B6F-EAE7-4A87-AC62-A7C65A449BA0}"/>
              </a:ext>
            </a:extLst>
          </p:cNvPr>
          <p:cNvSpPr>
            <a:spLocks noGrp="1"/>
          </p:cNvSpPr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환경  </a:t>
            </a:r>
            <a: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Raspberry Pi OS 64-bit, Python 3.11 (pyserial, picamera2, numpy, pandas)  |  ESP32 Arduino C++  |  TI mmWave SDK 3.6.2, Radar Toolbox 4.00, UniFlash 9.7  |  Streamlit, pytest  |  GitHub</a:t>
            </a:r>
          </a:p>
        </p:txBody>
      </p:sp>
    </p:spTree>
    <p:extLst>
      <p:ext uri="{BB962C8B-B14F-4D97-AF65-F5344CB8AC3E}">
        <p14:creationId xmlns:p14="http://schemas.microsoft.com/office/powerpoint/2010/main" val="153984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7148F-0B69-4CBE-B4BE-82A91831E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4483BB-AF6B-4144-8500-3F46FC0C8451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B8239-3946-4B7E-A66B-FFC83A742D6C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ABA3F-5411-4B83-AD4F-63C456E5A51F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A032B-24DB-4738-B914-2ABD6AA1431B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8DACC-C065-4A8C-92C9-F19262A26594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B070E-6D0A-4D03-9773-E8F5F9D87504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2B7EA-E511-44A7-A734-752C4FB30E48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DD81B-0267-4D09-88FB-91F15068CF2D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4BCA65-2FCC-41A9-BA6C-CA4E2ECD1AD5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3. 프로그램 설명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상태기계 흐름도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483E9-078A-40BA-AFEC-B451F7E82621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상태기계 흐름도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C++ core.cpp, 상태 10개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EA087-E6C0-4AFA-B993-EEF8B59C5832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상태기계 하나가 이탈 확인부터 팬 구동까지 잇는다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25F8C1-5250-42C2-86BE-B9B307AD6E78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576A6B53-B4E6-48C9-AC8F-1DECD1CC719D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1787652" cy="868680"/>
          </a:xfrm>
          <a:prstGeom prst="homePlate">
            <a:avLst>
              <a:gd name="adj" fmla="val 28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STANDBY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E077E378-CF5B-4BBC-A107-478555C08CC6}"/>
              </a:ext>
            </a:extLst>
          </p:cNvPr>
          <p:cNvSpPr>
            <a:spLocks noGrp="1"/>
          </p:cNvSpPr>
          <p:nvPr/>
        </p:nvSpPr>
        <p:spPr>
          <a:xfrm>
            <a:off x="2409444" y="1417320"/>
            <a:ext cx="1787652" cy="86868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DEPARTURE</a:t>
            </a:r>
          </a:p>
          <a:p>
            <a:pPr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_CHECK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03FBC6B5-9DAC-4EB5-A1AD-6AEF74B13974}"/>
              </a:ext>
            </a:extLst>
          </p:cNvPr>
          <p:cNvSpPr>
            <a:spLocks noGrp="1"/>
          </p:cNvSpPr>
          <p:nvPr/>
        </p:nvSpPr>
        <p:spPr>
          <a:xfrm>
            <a:off x="4270248" y="1417320"/>
            <a:ext cx="1787652" cy="86868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PRIMARY</a:t>
            </a: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84CD1F26-CC9D-4013-BFEF-4D30C1A98DD1}"/>
              </a:ext>
            </a:extLst>
          </p:cNvPr>
          <p:cNvSpPr>
            <a:spLocks noGrp="1"/>
          </p:cNvSpPr>
          <p:nvPr/>
        </p:nvSpPr>
        <p:spPr>
          <a:xfrm>
            <a:off x="6131052" y="1417320"/>
            <a:ext cx="1787652" cy="86868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MMWAVE</a:t>
            </a: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57371663-EC8D-4AE5-87B3-C473B40873E2}"/>
              </a:ext>
            </a:extLst>
          </p:cNvPr>
          <p:cNvSpPr>
            <a:spLocks noGrp="1"/>
          </p:cNvSpPr>
          <p:nvPr/>
        </p:nvSpPr>
        <p:spPr>
          <a:xfrm>
            <a:off x="7991856" y="1417320"/>
            <a:ext cx="1787652" cy="86868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THERMAL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798115A7-3250-4417-BFA2-0E6DC22A96F4}"/>
              </a:ext>
            </a:extLst>
          </p:cNvPr>
          <p:cNvSpPr>
            <a:spLocks noGrp="1"/>
          </p:cNvSpPr>
          <p:nvPr/>
        </p:nvSpPr>
        <p:spPr>
          <a:xfrm>
            <a:off x="9852660" y="1417320"/>
            <a:ext cx="1787652" cy="868680"/>
          </a:xfrm>
          <a:prstGeom prst="chevron">
            <a:avLst>
              <a:gd name="adj" fmla="val 28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PROTECTION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5DD7D4E-0104-4067-85B6-7B9AA05EF16C}"/>
              </a:ext>
            </a:extLst>
          </p:cNvPr>
          <p:cNvGraphicFramePr/>
          <p:nvPr/>
        </p:nvGraphicFramePr>
        <p:xfrm>
          <a:off x="548640" y="2514600"/>
          <a:ext cx="6949440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 (configs/real.json)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STANDBY → DEPARTURE_CHECK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UWB 거리 &gt; 5.0 m (7점 이동평균)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PRIMARY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5.0 m 초과가 10 s 유지 (4.0 m 안으로 3 s 돌아오면 복귀)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MMWAVE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 OR 카메라 움직임 (2 s 융합 창)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THERMAL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레이더 추적 &gt; 0 또는 presence = 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PROTECTION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≥ 35°C 또는 예측상 60 s 안에 35°C 도달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FAIL_SAFE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레이더, 센서 2 s 무응답, UART 오류, USB 소실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상태든 → ESTOP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비상정지: 모든 출력 정지 (최우선)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F6291B4-E123-4E31-B1B6-4B71550E6A3F}"/>
              </a:ext>
            </a:extLst>
          </p:cNvPr>
          <p:cNvGraphicFramePr/>
          <p:nvPr/>
        </p:nvGraphicFramePr>
        <p:xfrm>
          <a:off x="7680960" y="2514600"/>
          <a:ext cx="395935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Cam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경로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레이더 장애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재평가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mmWave 진입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mmWave 진입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mmWave 진입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SUSPECTED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E632AFF-3201-451A-827F-BED5F7F30FB0}"/>
              </a:ext>
            </a:extLst>
          </p:cNvPr>
          <p:cNvSpPr>
            <a:spLocks noGrp="1"/>
          </p:cNvSpPr>
          <p:nvPr/>
        </p:nvSpPr>
        <p:spPr>
          <a:xfrm>
            <a:off x="7680960" y="4983480"/>
            <a:ext cx="3959352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정상 = OR (미검출 최소화) → CONFIRMED</a:t>
            </a:r>
          </a:p>
          <a:p>
            <a:pPr algn="l">
              <a:lnSpc>
                <a:spcPct val="115000"/>
              </a:lnSpc>
              <a:buNone/>
            </a:pPr>
            <a:r>
              <a:rPr sz="11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레이더 장애 = AND (보수적) → SUSPECTED</a:t>
            </a:r>
          </a:p>
          <a:p>
            <a:pPr algn="l">
              <a:lnSpc>
                <a:spcPct val="115000"/>
              </a:lnSpc>
              <a:buNone/>
            </a:pPr>
            <a:r>
              <a:rPr sz="11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임계값은 현장 보정 전 초기값</a:t>
            </a:r>
          </a:p>
        </p:txBody>
      </p:sp>
    </p:spTree>
    <p:extLst>
      <p:ext uri="{BB962C8B-B14F-4D97-AF65-F5344CB8AC3E}">
        <p14:creationId xmlns:p14="http://schemas.microsoft.com/office/powerpoint/2010/main" val="74837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8C8C5A-CD2F-4BBA-8EC8-98BF9D29C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3B9338-7543-4F7B-8EEE-9786DDBB6241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3A88D-EED1-45E5-8D42-5A1F018A2ADC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CC7B5-B1F1-4173-BD85-BDBC9DF5542D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3F452-2930-4F9F-A15F-DF6962F37B82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FA9F0-00EA-4509-8E0B-F67F338AC9A8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38AC3-3608-45D3-B76C-D893C053CD3A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003FC-F2C7-4974-9C6B-FB53F0D7414A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2489B-17BD-4737-9ED8-82FB3479990B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D5ACA-E0E1-4EF8-9303-E52BC3E3B7F1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3. 프로그램 설명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파일 구성과 주요 함수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994B3-F835-47C4-9824-76FE27E363D3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파일 구성과 주요 함수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AFB559-5192-49CF-94AE-60CF0A19CE15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센서 입력부터 대시보드까지 C++와 Python으로 직접 작성했다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61A8A9-1FD0-48D1-83A4-69FCC2D7F583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6EC92E8-E915-4E37-942B-AF67473C2E2E}"/>
              </a:ext>
            </a:extLst>
          </p:cNvPr>
          <p:cNvGraphicFramePr/>
          <p:nvPr/>
        </p:nvGraphicFramePr>
        <p:xfrm>
          <a:off x="548640" y="1280160"/>
          <a:ext cx="11091671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0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함수 / 클래스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prototype/SafeGuard_Main/src/core.cpp, core.hpp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State, Core 전이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10개(INIT~ESTOP), 정상 OR / 장애 AND 판정, 출력 요청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prototype/SafeGuard_Main/src/main.cpp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메인 루프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허브 입력 → Core → 팬, 부저, 서보 명령, JSON 로그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prototype/SafeGuard_Main/src/thermal_observer.hpp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관측기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10분 온도 기울기 + 적응형 RC로 35°C 도달 예측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prototype/SafeGuard_Main/scripts/sensor_hub.py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허브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ESP32, 카메라, 레이더, UWB 입력을 묶어 C++ 코어로 전달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prototype/SafeGuard_Main/scripts/safeguard_uwb_reader.py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DistanceState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UWB 거리 해석, 7점 이동평균, 2 s 만료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prototype/SafeGuard_Main/scripts/dashboard.py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 대시보드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상태, 온도, 예측을 Pi 8080 포트로 표시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prototype/SafeGuard_Main/firmware/esp32_reference.ino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파서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PIR, SHT31 JSON 송신, FAN/BUZ/SRV 명령과 ACK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hardware/mmwave/mmwave_reader.py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FrameReader, parse_frame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TLV 1010/1020/1021 해석, 원본 바이트(--raw) 저장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hardware/camera/camera_motion.py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MotionState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차분, 3프레임 연속 규칙, 조명 변화 1초 무시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docs/figures/paper/build_paper_figures.py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fig1 ~ fig7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원본으로 보고서 그림 재현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1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0974D-9F6D-4A90-A7DB-572045907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2A9D4-718A-4A66-B58E-8902BD2853CA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91632-4E20-44B3-B27D-7263002151A6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FA6B0-C52C-47D5-888C-D8A220948233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17B85-E7B7-4951-9EDD-DD3E433FE4B0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38328-1359-444C-9562-2C4A0A55EEB4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37F22-3BB9-47BF-B7C3-C1BDAEADB3C4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D2CBD-6114-46CA-8F44-8289FAC624C2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034EAC-4E37-4AD5-8B99-70FC69A7C585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2B4F8-CB08-4F71-B793-D94A4B5A020A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3. 프로그램 설명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mmWave 처리와 공석 판정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16035-51C2-47C2-8296-95F42FD993B3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mmWave 처리와 공석 판정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TI 3D People Tracking 출력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A6B615-9DEC-494F-9D75-A0D62AE7FE13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레이더 단독 시험(10.27)에서 8,363프레임을 누락 0으로 받아 해석했다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76E5B-F46C-4946-B30D-B733BFE17C50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F8F0564C-F725-496D-B061-B52473CC6D2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159812" cy="731520"/>
          </a:xfrm>
          <a:prstGeom prst="homePlate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cfg 전송</a:t>
            </a:r>
          </a:p>
          <a:p>
            <a:pPr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CLI 115200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110898FF-E46B-4C17-94A7-84CC7538AD14}"/>
              </a:ext>
            </a:extLst>
          </p:cNvPr>
          <p:cNvSpPr>
            <a:spLocks noGrp="1"/>
          </p:cNvSpPr>
          <p:nvPr/>
        </p:nvSpPr>
        <p:spPr>
          <a:xfrm>
            <a:off x="2781604" y="1371600"/>
            <a:ext cx="2159812" cy="73152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바이트 수신</a:t>
            </a:r>
          </a:p>
          <a:p>
            <a:pPr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921600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6A4C4890-2AA9-46C3-8B00-B005104926CF}"/>
              </a:ext>
            </a:extLst>
          </p:cNvPr>
          <p:cNvSpPr>
            <a:spLocks noGrp="1"/>
          </p:cNvSpPr>
          <p:nvPr/>
        </p:nvSpPr>
        <p:spPr>
          <a:xfrm>
            <a:off x="5014569" y="1371600"/>
            <a:ext cx="2159812" cy="73152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프레임 분리</a:t>
            </a:r>
          </a:p>
          <a:p>
            <a:pPr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매직워드, 길이 검사</a:t>
            </a: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D51C01B7-D490-4C05-806E-C09638A884ED}"/>
              </a:ext>
            </a:extLst>
          </p:cNvPr>
          <p:cNvSpPr>
            <a:spLocks noGrp="1"/>
          </p:cNvSpPr>
          <p:nvPr/>
        </p:nvSpPr>
        <p:spPr>
          <a:xfrm>
            <a:off x="7247534" y="1371600"/>
            <a:ext cx="2159812" cy="73152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TLV 해석</a:t>
            </a:r>
          </a:p>
          <a:p>
            <a:pPr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점, 추적, presence</a:t>
            </a: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1387F98C-87F1-4984-9DD3-E476E3BCCC12}"/>
              </a:ext>
            </a:extLst>
          </p:cNvPr>
          <p:cNvSpPr>
            <a:spLocks noGrp="1"/>
          </p:cNvSpPr>
          <p:nvPr/>
        </p:nvSpPr>
        <p:spPr>
          <a:xfrm>
            <a:off x="9480499" y="1371600"/>
            <a:ext cx="2159812" cy="731520"/>
          </a:xfrm>
          <a:prstGeom prst="chevron">
            <a:avLst>
              <a:gd name="adj" fmla="val 28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27432" bIns="18288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재실 판단</a:t>
            </a:r>
          </a:p>
          <a:p>
            <a:pPr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5초 규칙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244C0D-FF3E-42CB-A9CA-F9E69BDA1E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7504" y="2276856"/>
            <a:ext cx="6697472" cy="3767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2765080-1BF0-41B9-9955-8EA2B8B24BC9}"/>
              </a:ext>
            </a:extLst>
          </p:cNvPr>
          <p:cNvSpPr>
            <a:spLocks noGrp="1"/>
          </p:cNvSpPr>
          <p:nvPr/>
        </p:nvSpPr>
        <p:spPr>
          <a:xfrm>
            <a:off x="274320" y="6062472"/>
            <a:ext cx="7863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10. 원본 바이트로 다시 그린 TI 데모 형식 화면 (시험 3, 2026.10.27): X-Y, Doppler-Range, 좌석 영역 점 개수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95A18B-AEB5-41E4-A375-84DC0261C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978" y="2276856"/>
            <a:ext cx="1933956" cy="25786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B64B3DB-AE20-4C61-97A5-E02BCC612834}"/>
              </a:ext>
            </a:extLst>
          </p:cNvPr>
          <p:cNvSpPr>
            <a:spLocks noGrp="1"/>
          </p:cNvSpPr>
          <p:nvPr/>
        </p:nvSpPr>
        <p:spPr>
          <a:xfrm>
            <a:off x="8138160" y="4873752"/>
            <a:ext cx="359359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11. IWR6843ISK-ODS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E851B2-32DB-45E2-957C-0764E196E99B}"/>
              </a:ext>
            </a:extLst>
          </p:cNvPr>
          <p:cNvSpPr>
            <a:spLocks noGrp="1"/>
          </p:cNvSpPr>
          <p:nvPr/>
        </p:nvSpPr>
        <p:spPr>
          <a:xfrm>
            <a:off x="8229600" y="5257800"/>
            <a:ext cx="3410712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공석 판정: 추적 1개 이상 또는 presence = 1이면 재실, 5초 연속 둘 다 없을 때만 공석</a:t>
            </a:r>
          </a:p>
        </p:txBody>
      </p:sp>
    </p:spTree>
    <p:extLst>
      <p:ext uri="{BB962C8B-B14F-4D97-AF65-F5344CB8AC3E}">
        <p14:creationId xmlns:p14="http://schemas.microsoft.com/office/powerpoint/2010/main" val="2126049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0F0D6F-68FA-4FED-8D3C-A2A866258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C6D2EC-C883-42A2-9447-522A0717AF00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46791-F0E7-47A6-886C-0803E215D8FE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06764-8A95-434E-A1DC-D5D56D3D14F1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54BF1B-762C-4D10-9C54-22482800FC4C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0B31E-5591-4F97-B275-372641CCB5AA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6F11C-88C5-43F1-9FC3-3B259FEB7DE2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7CEB9-537F-4673-94D1-F09233E75A87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76730-A84F-4658-92E0-C7786F8B978B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10B5F-4DEF-4648-AED9-B9C9EA54B2B4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3. 프로그램 설명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카메라 움직임 규칙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24F59-CD51-494E-99ED-262CB07A90C6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카메라 움직임 규칙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Camera Module 3, 10 fps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DCC87-0614-4B82-9604-0D5EC6DF4691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카메라는 움직일 때만 반응하고 조명 변화는 걸러낸다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BBD9A-B31F-46FA-B775-59C961C9283A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29F9A2-EAF4-4AC5-A354-AD7C4785B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23373"/>
            <a:ext cx="11365992" cy="32340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429985-846E-41B2-98E3-68EE7DFB53A0}"/>
              </a:ext>
            </a:extLst>
          </p:cNvPr>
          <p:cNvSpPr>
            <a:spLocks noGrp="1"/>
          </p:cNvSpPr>
          <p:nvPr/>
        </p:nvSpPr>
        <p:spPr>
          <a:xfrm>
            <a:off x="274320" y="4782312"/>
            <a:ext cx="11640311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12. 조건별 프레임 차분 비율과 판정 결과 (2026.10.27 시험 3, 조명 시험)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990A84-42B0-4DCC-9C32-D904D1365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57216"/>
            <a:ext cx="1609343" cy="1207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0CC7F5-DC40-4538-8E10-600B0D348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5157216"/>
            <a:ext cx="1609343" cy="12070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3CE7A4-7547-4BF0-A5A5-1E4940E02C96}"/>
              </a:ext>
            </a:extLst>
          </p:cNvPr>
          <p:cNvSpPr>
            <a:spLocks noGrp="1"/>
          </p:cNvSpPr>
          <p:nvPr/>
        </p:nvSpPr>
        <p:spPr>
          <a:xfrm>
            <a:off x="4480560" y="5120640"/>
            <a:ext cx="7159752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규칙  </a:t>
            </a:r>
            <a:r>
              <a:rPr sz="11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화소 밝기 차 25 초과 비율이 1%를 3프레임 연속 넘으면 움직임. 60% 넘게 바뀌면 조명 변화로 보고 1초 쉼.</a:t>
            </a:r>
          </a:p>
          <a:p>
            <a:pPr algn="l">
              <a:lnSpc>
                <a:spcPct val="115000"/>
              </a:lnSpc>
              <a:buNone/>
            </a:pPr>
            <a:r>
              <a:rPr sz="115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결과  </a:t>
            </a:r>
            <a:r>
              <a:rPr sz="11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움직이는 사람 54.7%, 가만히 앉음 7.4%, 조명 변화 0%. 정지한 탑승자는 레이더가 맡는다.</a:t>
            </a:r>
          </a:p>
        </p:txBody>
      </p:sp>
    </p:spTree>
    <p:extLst>
      <p:ext uri="{BB962C8B-B14F-4D97-AF65-F5344CB8AC3E}">
        <p14:creationId xmlns:p14="http://schemas.microsoft.com/office/powerpoint/2010/main" val="298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0974D-9F6D-4A90-A7DB-572045907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2A9D4-718A-4A66-B58E-8902BD2853CA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91632-4E20-44B3-B27D-7263002151A6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FA6B0-C52C-47D5-888C-D8A220948233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17B85-E7B7-4951-9EDD-DD3E433FE4B0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38328-1359-444C-9562-2C4A0A55EEB4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37F22-3BB9-47BF-B7C3-C1BDAEADB3C4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D2CBD-6114-46CA-8F44-8289FAC624C2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034EAC-4E37-4AD5-8B99-70FC69A7C585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updated-text">
            <a:extLst>
              <a:ext uri="{FF2B5EF4-FFF2-40B4-BE49-F238E27FC236}">
                <a16:creationId xmlns:a16="http://schemas.microsoft.com/office/drawing/2014/main" id="{89BAD800-C7B7-4577-B524-42CFB28C47A5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실차 적용 및 시연</a:t>
            </a:r>
          </a:p>
        </p:txBody>
      </p:sp>
      <p:sp>
        <p:nvSpPr>
          <p:cNvPr id="12" name="updated-text">
            <a:extLst>
              <a:ext uri="{FF2B5EF4-FFF2-40B4-BE49-F238E27FC236}">
                <a16:creationId xmlns:a16="http://schemas.microsoft.com/office/drawing/2014/main" id="{CFA28FF4-01B8-48DD-AD40-12BA705B38A4}"/>
              </a:ext>
            </a:extLst>
          </p:cNvPr>
          <p:cNvSpPr>
            <a:spLocks noGrp="1"/>
          </p:cNvSpPr>
          <p:nvPr/>
        </p:nvSpPr>
        <p:spPr>
          <a:xfrm>
            <a:off x="514350" y="1057275"/>
            <a:ext cx="1123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 대시보드 시연</a:t>
            </a:r>
          </a:p>
        </p:txBody>
      </p:sp>
      <p:sp>
        <p:nvSpPr>
          <p:cNvPr id="13" name="updated-text">
            <a:extLst>
              <a:ext uri="{FF2B5EF4-FFF2-40B4-BE49-F238E27FC236}">
                <a16:creationId xmlns:a16="http://schemas.microsoft.com/office/drawing/2014/main" id="{2F5E8375-31DD-441A-B62B-AE4BA917D666}"/>
              </a:ext>
            </a:extLst>
          </p:cNvPr>
          <p:cNvSpPr>
            <a:spLocks noGrp="1"/>
          </p:cNvSpPr>
          <p:nvPr/>
        </p:nvSpPr>
        <p:spPr>
          <a:xfrm>
            <a:off x="533400" y="1514475"/>
            <a:ext cx="1114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2026.10.28 촬영 영상 중 일부  |  차량 내부 장치와 상태 화면을 함께 확인</a:t>
            </a:r>
          </a:p>
        </p:txBody>
      </p:sp>
      <p:sp>
        <p:nvSpPr>
          <p:cNvPr id="14" name="updated-text">
            <a:extLst>
              <a:ext uri="{FF2B5EF4-FFF2-40B4-BE49-F238E27FC236}">
                <a16:creationId xmlns:a16="http://schemas.microsoft.com/office/drawing/2014/main" id="{F40FCF60-549A-490E-838B-6E5CFF3367EC}"/>
              </a:ext>
            </a:extLst>
          </p:cNvPr>
          <p:cNvSpPr>
            <a:spLocks noGrp="1"/>
          </p:cNvSpPr>
          <p:nvPr/>
        </p:nvSpPr>
        <p:spPr>
          <a:xfrm>
            <a:off x="523875" y="64198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실차에서 장치와 대시보드를 연결해 시연했다 (레이더 입력 없이 대체 판단 경로)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254F3B6-1573-4301-B11C-990E3A24E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3509" y="1952625"/>
            <a:ext cx="7613233" cy="4286250"/>
          </a:xfrm>
          <a:prstGeom prst="rect">
            <a:avLst/>
          </a:prstGeom>
        </p:spPr>
      </p:pic>
      <p:sp>
        <p:nvSpPr>
          <p:cNvPr id="16" name="updated-text">
            <a:extLst>
              <a:ext uri="{FF2B5EF4-FFF2-40B4-BE49-F238E27FC236}">
                <a16:creationId xmlns:a16="http://schemas.microsoft.com/office/drawing/2014/main" id="{7B9E630C-DBDD-4599-99B7-372898A8EC82}"/>
              </a:ext>
            </a:extLst>
          </p:cNvPr>
          <p:cNvSpPr>
            <a:spLocks noGrp="1"/>
          </p:cNvSpPr>
          <p:nvPr/>
        </p:nvSpPr>
        <p:spPr>
          <a:xfrm>
            <a:off x="9382125" y="2228850"/>
            <a:ext cx="238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보호자 상태 화면</a:t>
            </a:r>
          </a:p>
        </p:txBody>
      </p:sp>
      <p:sp>
        <p:nvSpPr>
          <p:cNvPr id="17" name="updated-text">
            <a:extLst>
              <a:ext uri="{FF2B5EF4-FFF2-40B4-BE49-F238E27FC236}">
                <a16:creationId xmlns:a16="http://schemas.microsoft.com/office/drawing/2014/main" id="{C6C2E084-3C6A-4D81-B548-AFC76B66AF37}"/>
              </a:ext>
            </a:extLst>
          </p:cNvPr>
          <p:cNvSpPr>
            <a:spLocks noGrp="1"/>
          </p:cNvSpPr>
          <p:nvPr/>
        </p:nvSpPr>
        <p:spPr>
          <a:xfrm>
            <a:off x="9382125" y="2714625"/>
            <a:ext cx="23336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상태·온도·센서 정보</a:t>
            </a:r>
          </a:p>
          <a:p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표시 화면 확인</a:t>
            </a:r>
          </a:p>
        </p:txBody>
      </p:sp>
      <p:sp>
        <p:nvSpPr>
          <p:cNvPr id="18" name="updated-text">
            <a:extLst>
              <a:ext uri="{FF2B5EF4-FFF2-40B4-BE49-F238E27FC236}">
                <a16:creationId xmlns:a16="http://schemas.microsoft.com/office/drawing/2014/main" id="{1AAEC754-B9BF-470A-9BF1-E4DD03AC773E}"/>
              </a:ext>
            </a:extLst>
          </p:cNvPr>
          <p:cNvSpPr>
            <a:spLocks noGrp="1"/>
          </p:cNvSpPr>
          <p:nvPr/>
        </p:nvSpPr>
        <p:spPr>
          <a:xfrm>
            <a:off x="9382125" y="3819525"/>
            <a:ext cx="238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차량 내 장치</a:t>
            </a:r>
          </a:p>
        </p:txBody>
      </p:sp>
      <p:sp>
        <p:nvSpPr>
          <p:cNvPr id="19" name="updated-text">
            <a:extLst>
              <a:ext uri="{FF2B5EF4-FFF2-40B4-BE49-F238E27FC236}">
                <a16:creationId xmlns:a16="http://schemas.microsoft.com/office/drawing/2014/main" id="{2E45CBF6-3A32-4607-8980-742318755CCA}"/>
              </a:ext>
            </a:extLst>
          </p:cNvPr>
          <p:cNvSpPr>
            <a:spLocks noGrp="1"/>
          </p:cNvSpPr>
          <p:nvPr/>
        </p:nvSpPr>
        <p:spPr>
          <a:xfrm>
            <a:off x="9382125" y="4295775"/>
            <a:ext cx="2333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센서 보드와</a:t>
            </a:r>
          </a:p>
          <a:p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출력부를 함께 배치</a:t>
            </a:r>
          </a:p>
        </p:txBody>
      </p:sp>
      <p:sp>
        <p:nvSpPr>
          <p:cNvPr id="20" name="updated-text">
            <a:extLst>
              <a:ext uri="{FF2B5EF4-FFF2-40B4-BE49-F238E27FC236}">
                <a16:creationId xmlns:a16="http://schemas.microsoft.com/office/drawing/2014/main" id="{9467074D-892E-4D31-8044-F9EBC9ADA114}"/>
              </a:ext>
            </a:extLst>
          </p:cNvPr>
          <p:cNvSpPr>
            <a:spLocks noGrp="1"/>
          </p:cNvSpPr>
          <p:nvPr/>
        </p:nvSpPr>
        <p:spPr>
          <a:xfrm>
            <a:off x="9382125" y="5457825"/>
            <a:ext cx="2333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전체 영상 1분 27초</a:t>
            </a:r>
          </a:p>
          <a:p>
            <a:pPr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시연 영상 URL 입력 필요</a:t>
            </a:r>
          </a:p>
        </p:txBody>
      </p:sp>
      <p:sp>
        <p:nvSpPr>
          <p:cNvPr id="21" name="updated-text">
            <a:extLst>
              <a:ext uri="{FF2B5EF4-FFF2-40B4-BE49-F238E27FC236}">
                <a16:creationId xmlns:a16="http://schemas.microsoft.com/office/drawing/2014/main" id="{8EF19D22-1130-41AE-BEF4-8BD5965832BA}"/>
              </a:ext>
            </a:extLst>
          </p:cNvPr>
          <p:cNvSpPr>
            <a:spLocks noGrp="1"/>
          </p:cNvSpPr>
          <p:nvPr/>
        </p:nvSpPr>
        <p:spPr>
          <a:xfrm>
            <a:off x="11249025" y="648652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604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5E1740-3C4E-4B61-8982-BD18CCBEF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1206DD-458D-456B-9046-5A200FD808C4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56314-E293-4FBB-97CC-F70E45D7A0E1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52C22-F169-41CF-A3A9-002999045808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287B7-1771-47D2-BBCC-2FA2C4176CB8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DF8E4-3F85-4A7A-8EE4-639AF22CA986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4C3CE9-7873-4A94-ADA1-1BAE8F5BCB26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FC04D-08A4-49A8-ACC3-C0DE149CB1DA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406304-D4F6-436C-9335-7C61B88DF75F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BA960-386E-4FC7-9A0A-AEF8DCB35692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3. 프로그램 설명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UWB 보호자 이탈 판정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4126D-7F00-400C-A964-B00DDB8CC317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UWB 보호자 이탈 판정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DWM1001 2대, 2026.10.16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25258-6A14-490D-8EC4-DAD28911ECBF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UWB 거리 잡음 3.5 cm, 7점 평균으로 절반 줄이고 지연은 1.6초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556BF8-98F9-4A61-B491-98A8E925A683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3048A6-4D04-495E-9C66-ECA9B9062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15" y="1316736"/>
            <a:ext cx="6885768" cy="47274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E763BF-8841-4310-9B53-518411582565}"/>
              </a:ext>
            </a:extLst>
          </p:cNvPr>
          <p:cNvSpPr>
            <a:spLocks noGrp="1"/>
          </p:cNvSpPr>
          <p:nvPr/>
        </p:nvSpPr>
        <p:spPr>
          <a:xfrm>
            <a:off x="274320" y="6062472"/>
            <a:ext cx="72237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13. UWB 거리 기록, 정지 구간 잡음, 평균 창 크기와 잡음, 계단 응답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72AEA-9331-4E6E-8B6D-D86555D2E621}"/>
              </a:ext>
            </a:extLst>
          </p:cNvPr>
          <p:cNvSpPr>
            <a:spLocks noGrp="1"/>
          </p:cNvSpPr>
          <p:nvPr/>
        </p:nvSpPr>
        <p:spPr>
          <a:xfrm>
            <a:off x="7589520" y="1280160"/>
            <a:ext cx="4050791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측정 조건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DC9A2-F783-4360-B0DE-F3E756C5FE05}"/>
              </a:ext>
            </a:extLst>
          </p:cNvPr>
          <p:cNvSpPr>
            <a:spLocks noGrp="1"/>
          </p:cNvSpPr>
          <p:nvPr/>
        </p:nvSpPr>
        <p:spPr>
          <a:xfrm>
            <a:off x="7845552" y="1737360"/>
            <a:ext cx="3776472" cy="12344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차량측 TAG(Pi USB) ↔ 보호자측 ANCHOR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세션 1: 602 s, 1,106개 / 세션 2: 57 s, 112개, 약 1.9 Hz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45533B-6F9D-4121-8FF7-53CB51489DAA}"/>
              </a:ext>
            </a:extLst>
          </p:cNvPr>
          <p:cNvSpPr>
            <a:spLocks noGrp="1"/>
          </p:cNvSpPr>
          <p:nvPr/>
        </p:nvSpPr>
        <p:spPr>
          <a:xfrm>
            <a:off x="7589520" y="3108960"/>
            <a:ext cx="4050791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AB3EA-3BC0-4A4B-856F-B606356015CB}"/>
              </a:ext>
            </a:extLst>
          </p:cNvPr>
          <p:cNvSpPr>
            <a:spLocks noGrp="1"/>
          </p:cNvSpPr>
          <p:nvPr/>
        </p:nvSpPr>
        <p:spPr>
          <a:xfrm>
            <a:off x="7845552" y="3566160"/>
            <a:ext cx="3776472" cy="13715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정지 구간 잡음 σ 3.5 cm, 6.7 cm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7점 이동평균: σ 1.7, 3.4 cm, 지연 약 1.6 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5 m + 10 s 유지 판정에 비해 지연이 작다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005001-F25F-4999-88DE-A1DB1E6C5E8C}"/>
              </a:ext>
            </a:extLst>
          </p:cNvPr>
          <p:cNvSpPr>
            <a:spLocks noGrp="1"/>
          </p:cNvSpPr>
          <p:nvPr/>
        </p:nvSpPr>
        <p:spPr>
          <a:xfrm>
            <a:off x="7589520" y="5074920"/>
            <a:ext cx="4050791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한계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4011C7-EB07-4802-98BE-6CAFE534D14A}"/>
              </a:ext>
            </a:extLst>
          </p:cNvPr>
          <p:cNvSpPr>
            <a:spLocks noGrp="1"/>
          </p:cNvSpPr>
          <p:nvPr/>
        </p:nvSpPr>
        <p:spPr>
          <a:xfrm>
            <a:off x="7845552" y="5532120"/>
            <a:ext cx="3776472" cy="7772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정답 거리가 없어 정밀도만 보고. 5 m 이탈 오차는 줄자 시험으로 측정 예정</a:t>
            </a:r>
          </a:p>
        </p:txBody>
      </p:sp>
    </p:spTree>
    <p:extLst>
      <p:ext uri="{BB962C8B-B14F-4D97-AF65-F5344CB8AC3E}">
        <p14:creationId xmlns:p14="http://schemas.microsoft.com/office/powerpoint/2010/main" val="1026793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00FD90-96A7-4E1B-BB7E-D4436B11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1FBF0B-43DA-4723-9C07-FEE9ECA89710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0A261-FACF-44BF-9FFE-B03F6B046EB0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C1A85-07A4-40A8-8EAE-6FE1739E6073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51831-ABF7-45D6-A346-9D865AA89F99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D786F-A328-4399-8458-94598098C25B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68C29-CC85-4147-B064-F9FF9D96F703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BE515-A1BD-4191-B706-0B0D213752FC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10017C-E962-4CBC-B803-1D560165DCC3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6963A-00F8-439E-AE52-B0110015124A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4. 장애요인과 해결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연결, 수신, 센서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23ACD-76A5-4B4A-BAFF-6FBED723F7EE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연결, 수신, 센서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F7A1CB-B8F3-464A-A254-E8677C918372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부딪힌 문제 7개, 원인을 찾아 수치로 확인했다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4970FB-DB42-4A06-A06A-6A30F47A2945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ACE4C08-4778-48F2-8CBD-3225B55DDCF8}"/>
              </a:ext>
            </a:extLst>
          </p:cNvPr>
          <p:cNvGraphicFramePr/>
          <p:nvPr/>
        </p:nvGraphicFramePr>
        <p:xfrm>
          <a:off x="548640" y="1325880"/>
          <a:ext cx="11091671" cy="4983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6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6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요인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레이더 펌웨어 굽기 반복 실패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 스위치 5번 ON (Rev C 보드 표와 다름)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 SWRU546E 표 3-3대로 5번 OFF, 전원 후 RST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굽기 성공, 펌웨어 3종 교체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Visualizer가 cfg를 못 읽음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검색창 실행 시 작업 폴더 쓰기 금지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 폴더에서 직접 실행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추적 화면 18 fps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노트북 수신 프레임 7~8% 깨짐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 수, 버퍼와 무관 → 노트북 USB 쪽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시험을 Pi에서 반복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8분 8,681프레임 누락 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Visualizer 약 6분 뒤 보드 무응답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쪽 수신 처리로 추정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리더 mmwave_reader.py 직접 작성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연속 정지 없음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PIR 출력이 흔들림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출력이 떠 있음, 감지 중 0.3~1초 펄스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INPUT_PULLDOWN + FSM 유지 시간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평소 0, 감지 시 1로 안정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SHT31 ‘no device’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4선 하우징이 5핀 헤더에 한 칸 밀려 VCC 빠짐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하우징 이동, 주소 0x45, SDA 32 / SCL 33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온습도 정상 수신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Vital Signs 호흡수 −40~47%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거리칸 1.26 m ≠ 실제 가슴 0.95 m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거리칸 고정 cfg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오차 0.4~1.4회/분 (2회). 정확도는 주장 안 함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881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D82B19-E680-4DF3-8FB8-9E954D42E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269681-4DE1-4391-AB7C-E59A94155955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AFD47-06E3-421B-B5D6-34ACE400EDB4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94E6-EC61-4EB9-985A-7AA3D377B2AA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94BA3-20D4-433C-8987-1CD678A1CD59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30CAE-B320-4E35-9A8F-95DEAC22D5AC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D9482-D8FD-41FD-B07E-91BB95C12011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F8A46-442F-4BFA-88FB-0C0A6DE5CD3E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522CCB-ABDB-477C-93C9-30047FAAB3BC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60F1E-687B-49F6-A886-49ADB4CA364B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4. 장애요인과 해결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유령 추적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F8D39F-93C7-49BB-AD70-A1BC7CA0AED4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유령 추적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2026.10.24 정지 착석 시험, 5분, 센서 높이 1.2 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F6885-BA56-4D72-BC3D-1C11A8275B80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영역을 차 크기로 줄이자 정지 착석 시험에서 1인 판정 0% → 95.7%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7C20EA-CB28-4D0A-973F-E42E3E06C170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8EC483-0342-496C-BE7D-3F4A84E01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2748"/>
            <a:ext cx="7315200" cy="45354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54650E-357C-4769-B1B8-A51858586B6A}"/>
              </a:ext>
            </a:extLst>
          </p:cNvPr>
          <p:cNvSpPr>
            <a:spLocks noGrp="1"/>
          </p:cNvSpPr>
          <p:nvPr/>
        </p:nvSpPr>
        <p:spPr>
          <a:xfrm>
            <a:off x="457200" y="6016752"/>
            <a:ext cx="75895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14. 추적 수 원본 CSV (18.2 fps, 5,455프레임씩). 빨간 상자 = 차량용 cfg로 1명을 계속 1명으로 본 구간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9284235-5106-4EFF-AE76-7DB10B538F5E}"/>
              </a:ext>
            </a:extLst>
          </p:cNvPr>
          <p:cNvSpPr>
            <a:spLocks noGrp="1"/>
          </p:cNvSpPr>
          <p:nvPr/>
        </p:nvSpPr>
        <p:spPr>
          <a:xfrm>
            <a:off x="8138160" y="1325880"/>
            <a:ext cx="1691640" cy="1508760"/>
          </a:xfrm>
          <a:prstGeom prst="roundRect">
            <a:avLst>
              <a:gd name="adj" fmla="val 6000"/>
            </a:avLst>
          </a:prstGeom>
          <a:solidFill>
            <a:srgbClr val="EE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B53B1-7EF6-41E8-B2D0-C9F94B3B6E8B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1508760" cy="82981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2400" b="1" i="0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95.7%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439E31-7404-4DBD-AA9D-CE7E4D7FAA71}"/>
              </a:ext>
            </a:extLst>
          </p:cNvPr>
          <p:cNvSpPr>
            <a:spLocks noGrp="1"/>
          </p:cNvSpPr>
          <p:nvPr/>
        </p:nvSpPr>
        <p:spPr>
          <a:xfrm>
            <a:off x="8229600" y="2200960"/>
            <a:ext cx="1508760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정지 1인</a:t>
            </a:r>
            <a:b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정확 판정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73D6ED6-BC8C-45DB-A30A-25B55294D7A9}"/>
              </a:ext>
            </a:extLst>
          </p:cNvPr>
          <p:cNvSpPr>
            <a:spLocks noGrp="1"/>
          </p:cNvSpPr>
          <p:nvPr/>
        </p:nvSpPr>
        <p:spPr>
          <a:xfrm>
            <a:off x="9948672" y="1325880"/>
            <a:ext cx="1691640" cy="1508760"/>
          </a:xfrm>
          <a:prstGeom prst="roundRect">
            <a:avLst>
              <a:gd name="adj" fmla="val 6000"/>
            </a:avLst>
          </a:prstGeom>
          <a:solidFill>
            <a:srgbClr val="EE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F141C2-E8AC-401A-9FB4-478D1CCE10FA}"/>
              </a:ext>
            </a:extLst>
          </p:cNvPr>
          <p:cNvSpPr>
            <a:spLocks noGrp="1"/>
          </p:cNvSpPr>
          <p:nvPr/>
        </p:nvSpPr>
        <p:spPr>
          <a:xfrm>
            <a:off x="10040112" y="1417320"/>
            <a:ext cx="1508760" cy="82981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2400" b="1" i="0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6초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862B01-0EF0-4A08-A6BE-2B1C7BBA726F}"/>
              </a:ext>
            </a:extLst>
          </p:cNvPr>
          <p:cNvSpPr>
            <a:spLocks noGrp="1"/>
          </p:cNvSpPr>
          <p:nvPr/>
        </p:nvSpPr>
        <p:spPr>
          <a:xfrm>
            <a:off x="10040112" y="2200960"/>
            <a:ext cx="1508760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퇴장 후</a:t>
            </a:r>
            <a:b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</a:br>
            <a:r>
              <a:rPr sz="1100" b="0" i="0">
                <a:solidFill>
                  <a:srgbClr val="5F636B"/>
                </a:solidFill>
                <a:latin typeface="Malgun Gothic"/>
                <a:ea typeface="Malgun Gothic"/>
                <a:cs typeface="Malgun Gothic"/>
              </a:rPr>
              <a:t>공석 판정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7B0559-AA88-435A-99E7-431D3B76C05E}"/>
              </a:ext>
            </a:extLst>
          </p:cNvPr>
          <p:cNvSpPr>
            <a:spLocks noGrp="1"/>
          </p:cNvSpPr>
          <p:nvPr/>
        </p:nvSpPr>
        <p:spPr>
          <a:xfrm>
            <a:off x="8138160" y="3017520"/>
            <a:ext cx="3502152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1" i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원인  </a:t>
            </a: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TI 원본 cfg는 6 m 방 기준이라, 4 m 벽의 다중 반사가 영역 안에서 사람처럼 추적됐다 (C: 1명에 유령 2~5개).</a:t>
            </a:r>
          </a:p>
          <a:p>
            <a:pPr algn="l">
              <a:lnSpc>
                <a:spcPct val="115000"/>
              </a:lnSpc>
              <a:buNone/>
            </a:pPr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해결  </a:t>
            </a: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추적, 정지 영역(boundaryBox)을 세단 실내 치수로 줄인 ODS_sedan_est.cfg 작성.</a:t>
            </a:r>
          </a:p>
          <a:p>
            <a:pPr algn="l">
              <a:lnSpc>
                <a:spcPct val="115000"/>
              </a:lnSpc>
              <a:buNone/>
            </a:pPr>
            <a:r>
              <a:rPr sz="120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남은 점  </a:t>
            </a: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120~138초 간헐 끊김은 정지 영역 높이 1.2 m(아이 기준) 때문으로 추정.</a:t>
            </a:r>
          </a:p>
        </p:txBody>
      </p:sp>
    </p:spTree>
    <p:extLst>
      <p:ext uri="{BB962C8B-B14F-4D97-AF65-F5344CB8AC3E}">
        <p14:creationId xmlns:p14="http://schemas.microsoft.com/office/powerpoint/2010/main" val="1381374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171FA7-E62A-459B-B1BC-3A8335F5A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088CDD-1234-4845-B857-6158F6D810D0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E33-B69F-4E08-AF31-C86D3EEC23E1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9EB00-31C0-410E-BEBB-9866BF16FBD6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42CCA-9C33-4A26-871F-3842FB513C1B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BC4D6-E5BE-4977-82B0-1B1672CB131A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A36B6-8AB3-4AB1-94C4-4989010118B4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1CF6C-07CB-4987-96E2-69FE93599921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53D0F5-AD99-474F-80C0-D3D4FB6AD9A5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98ABE-6E62-4A06-8E34-DC2018E462C9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4. 장애요인과 해결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하차 후 잔존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0CDB8A-CF33-4C08-8748-AB399388DCFE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하차 후 잔존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2026.10.27 시험 3, 레이더 높이 1.05 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90CAB-095B-4F77-BBA2-A41D66B3D74F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하차 후 추적이 87초 남은 원인은 static2free 설정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77F8-27E6-4CD7-82FC-89024B736F71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296345-C84B-4632-A663-504AC43C0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55" y="1362456"/>
            <a:ext cx="10832840" cy="35387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4EC237-239F-480F-A38C-C26E9E9906B0}"/>
              </a:ext>
            </a:extLst>
          </p:cNvPr>
          <p:cNvSpPr>
            <a:spLocks noGrp="1"/>
          </p:cNvSpPr>
          <p:nvPr/>
        </p:nvSpPr>
        <p:spPr>
          <a:xfrm>
            <a:off x="457200" y="4919472"/>
            <a:ext cx="1127455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15. 시험 3 레이더 원본 바이트로 다시 그린 점 구름과 추적 위치 (위에서 본 모습, 2026.10.27)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4842618-F711-4167-A4A6-674F348415E3}"/>
              </a:ext>
            </a:extLst>
          </p:cNvPr>
          <p:cNvGraphicFramePr/>
          <p:nvPr/>
        </p:nvGraphicFramePr>
        <p:xfrm>
          <a:off x="548640" y="5257800"/>
          <a:ext cx="6583680" cy="1051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stateParam static2free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차량용 cfg (현재)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3000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165초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퇴장 후 87초+ 잔존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 원본 cfg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27.5초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C: 33초 뒤 소거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cfg 3종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 / 200 / 100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27.5 / 11 / 5.5초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결선 전 비교 시험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1C1D75A-85C4-4653-B8AE-BD88353CF21C}"/>
              </a:ext>
            </a:extLst>
          </p:cNvPr>
          <p:cNvSpPr>
            <a:spLocks noGrp="1"/>
          </p:cNvSpPr>
          <p:nvPr/>
        </p:nvSpPr>
        <p:spPr>
          <a:xfrm>
            <a:off x="7315200" y="5257800"/>
            <a:ext cx="4325112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1" i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분석  </a:t>
            </a:r>
            <a:r>
              <a:rPr sz="105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남은 추적 반경 0.5 m 안 점 0개 → 정지 추적 소거 시간(static2free)이 지배. 앉아 있을 때 점이 끊긴 최장은 1.93초라 줄여도 여유 있음.</a:t>
            </a:r>
          </a:p>
        </p:txBody>
      </p:sp>
    </p:spTree>
    <p:extLst>
      <p:ext uri="{BB962C8B-B14F-4D97-AF65-F5344CB8AC3E}">
        <p14:creationId xmlns:p14="http://schemas.microsoft.com/office/powerpoint/2010/main" val="1275366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19E4ED-A315-4069-A89B-95F91ED99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1DE68-16DF-4D40-BB5E-62F8D3DFEC5B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E7343-1D8A-46A9-920D-CCFAF55105E3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7C1D7-875B-409D-BD63-53C7A1D6A51B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2E3B-44A8-465C-B919-663DCDDE87B7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E7127-4BEE-406D-9815-276F927C2DF2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EBDFC-6F33-42D8-90D1-6D211B8739BC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806A7-6148-4C26-B665-03D41CC4A529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FC8C76-DE37-4BF6-A568-7583A5A8BA34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002F3-0388-45DE-BF7F-41D8F340C52C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5. 개발 결과물의 차별성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센서 상호보완과 측정 결과 요약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BD026C-8D81-473B-ADEF-2A359D4BC34D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센서 상호보완과 측정 결과 요약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EEFB6-501E-4DFD-BC5E-3846652FDD4E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점 근거 확인을 더하면 시험 3에서 퇴장 뒤 오판 0% (사후 분석, 메인 코드 미반영)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F31846-819D-4A0A-9BF9-9CB5CC27599F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2D8964-9291-472F-B3AB-2FA116C3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19985"/>
            <a:ext cx="6675120" cy="28121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35E338-8AE7-4CB1-8446-6DC119FE180A}"/>
              </a:ext>
            </a:extLst>
          </p:cNvPr>
          <p:cNvSpPr>
            <a:spLocks noGrp="1"/>
          </p:cNvSpPr>
          <p:nvPr/>
        </p:nvSpPr>
        <p:spPr>
          <a:xfrm>
            <a:off x="274320" y="4553712"/>
            <a:ext cx="6949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16. 시험 3 초 단위 재실 판정 (한 사람, 한 번 시험). 점 근거 확인은 사후 분석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0A4A4F-3162-4763-8601-2BC99C158C02}"/>
              </a:ext>
            </a:extLst>
          </p:cNvPr>
          <p:cNvSpPr>
            <a:spLocks noGrp="1"/>
          </p:cNvSpPr>
          <p:nvPr/>
        </p:nvSpPr>
        <p:spPr>
          <a:xfrm>
            <a:off x="548640" y="4983480"/>
            <a:ext cx="658368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1" i="0">
                <a:solidFill>
                  <a:srgbClr val="D35400"/>
                </a:solidFill>
                <a:latin typeface="Malgun Gothic"/>
                <a:ea typeface="Malgun Gothic"/>
                <a:cs typeface="Malgun Gothic"/>
              </a:rPr>
              <a:t>해석  </a:t>
            </a:r>
            <a:r>
              <a:rPr sz="11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카메라만으로는 정지 착석을 12%만 잡고, 레이더는 100%지만 퇴장 뒤에도 100%다. 추적 주변 0.45 m 안에 0.5 s 동안 점 3개 이상일 때만 인정하면 퇴장 뒤 0%, 착석 100% (메인 코드 반영 전 해결 후보).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BB423BC-D276-44CC-84F0-8B536607E2D5}"/>
              </a:ext>
            </a:extLst>
          </p:cNvPr>
          <p:cNvGraphicFramePr/>
          <p:nvPr/>
        </p:nvGraphicFramePr>
        <p:xfrm>
          <a:off x="7315200" y="1280160"/>
          <a:ext cx="4325111" cy="5074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4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이탈 판정 (UWB)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잡음 σ 3.5 cm, 정답 거리 시험 예정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검출률 (레이더)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1인 95.7% (차량 cfg)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퇴장 뒤 오판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유령 추적 발견 → 점 근거 확인 시 0% (사후)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움직임 54.7%, 조명 변화 0%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주기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레이더 55 ms 누락 0, 카메라 100 ms, UWB 531 ms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예측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34.5°C 이력, 약 51 s 뒤 도달 예측 (소프트웨어 시험)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전환 시간, Fail-Safe, 전력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결선 전 측정 (측정 계획 작성)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354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9C8C85-FAD8-4E35-A389-9DEDB1595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3653FE-B590-4204-9BFE-3676259CADB1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6E063-96B6-4CEC-B8A3-C9862988F774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39AF4-3229-45B0-BBE1-8AC8A2B56E02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4C7D5-EC73-4C16-9CDF-66F8BD61931E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11B1D-E5B0-4044-AB24-30837AB46FFA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972368-81E3-4D7A-9491-B68DFA422173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5222F-A7FA-413E-B7D8-3262A09909D2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E50554-04A9-4272-887B-495709F05989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0387D-FD6F-4A8A-8064-DDDA870CC0D9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5. 개발 결과물의 차별성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선제 보호 열 예측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8EE2B-FA1C-4FE2-91CA-535B852601DF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선제 보호 열 예측</a:t>
            </a:r>
            <a:r>
              <a:rPr sz="11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     문헌 곡선 보정) + 예외 검증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2D17C-F3E8-41EA-B6E3-CCC2C5D43DFA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35°C(설정값) 도달이 60초 안으로 예측되면 보호를 요청한다 (소프트웨어 시험)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96C74-B0AE-4CB6-BBBA-3C77A51E61B2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63A42-922E-451E-8760-2E68509F13D7}"/>
              </a:ext>
            </a:extLst>
          </p:cNvPr>
          <p:cNvSpPr>
            <a:spLocks noGrp="1"/>
          </p:cNvSpPr>
          <p:nvPr/>
        </p:nvSpPr>
        <p:spPr>
          <a:xfrm>
            <a:off x="274320" y="4599432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9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그림 17. 온도 판단 규칙 지도 (35°C는 프로젝트 설정값, 주황 점 = 7월 시제품 DHT22 실측)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3159D1E-8453-4569-9BAD-E3E499922684}"/>
              </a:ext>
            </a:extLst>
          </p:cNvPr>
          <p:cNvGraphicFramePr/>
          <p:nvPr/>
        </p:nvGraphicFramePr>
        <p:xfrm>
          <a:off x="8138160" y="1280160"/>
          <a:ext cx="3502151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6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(TwinLab)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 Risk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 = 35 s 보호 진입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 Occupant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오검출을 레이더가 걸러냄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mmWave Timeout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 s 무응답 → FAIL_SAFE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4BE651C-FD88-496F-B48F-007169B00E6F}"/>
              </a:ext>
            </a:extLst>
          </p:cNvPr>
          <p:cNvSpPr>
            <a:spLocks noGrp="1"/>
          </p:cNvSpPr>
          <p:nvPr/>
        </p:nvSpPr>
        <p:spPr>
          <a:xfrm>
            <a:off x="548640" y="5029200"/>
            <a:ext cx="5486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구현 (메인 코드)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B98A03-CFB7-4E01-AA9C-11FBA8ED6AC0}"/>
              </a:ext>
            </a:extLst>
          </p:cNvPr>
          <p:cNvSpPr>
            <a:spLocks noGrp="1"/>
          </p:cNvSpPr>
          <p:nvPr/>
        </p:nvSpPr>
        <p:spPr>
          <a:xfrm>
            <a:off x="804672" y="5486400"/>
            <a:ext cx="5212080" cy="82295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0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최근 10분 기울기 + 적응형 RC, 예측 60 s 안 35°C면 PROTECTION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0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합성 이력 시험: 34.5°C, 51 s 뒤 도달 예측 → 팬, 부저 요청 확인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1A18CD-1A13-4450-ABCB-8A0C4353864E}"/>
              </a:ext>
            </a:extLst>
          </p:cNvPr>
          <p:cNvSpPr>
            <a:spLocks noGrp="1"/>
          </p:cNvSpPr>
          <p:nvPr/>
        </p:nvSpPr>
        <p:spPr>
          <a:xfrm>
            <a:off x="6217920" y="5029200"/>
            <a:ext cx="5422392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한계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BB2A12-154B-4E4A-9584-FC194A42FC56}"/>
              </a:ext>
            </a:extLst>
          </p:cNvPr>
          <p:cNvSpPr>
            <a:spLocks noGrp="1"/>
          </p:cNvSpPr>
          <p:nvPr/>
        </p:nvSpPr>
        <p:spPr>
          <a:xfrm>
            <a:off x="6473952" y="5486400"/>
            <a:ext cx="5148072" cy="82295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0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열 모델은 문헌 곡선 기반 보정, 차량별 정확도는 미검증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0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실장치 선제 출력 시험은 결선 전 수행. 현장 시연은 DEMO 온도 사용</a:t>
            </a:r>
          </a:p>
        </p:txBody>
      </p:sp>
      <p:pic>
        <p:nvPicPr>
          <p:cNvPr id="22" name="Picture 21" descr="fig6_thermal_rule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244" y="1605561"/>
            <a:ext cx="3838552" cy="268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93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1A2719-7C3C-4AD3-9F4D-EED032FFF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348E9E-FF7D-4C47-9BCA-611C36A5FF4C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9BDFA-CA44-460A-B05F-F7844CD9B8E7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26464-C8C3-4F8B-B80B-A8C1A64BD12E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21546-C40C-46CC-ACDD-C96AFC69F49F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1EBDA-9983-47F4-B856-1E3D20105DE2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4957A-C503-4070-8C81-7647EBE86112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B5C6A-DF2A-40EF-9802-596BD31FEA49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E6C50-4D30-408A-B007-7C082142C38F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8D382-70B5-4FB0-96E9-C4516E315AED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6. 파급력과 기대효과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시장성, 발전 가능성, 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C51A9-9EFC-4581-83FA-E1E62B52D18B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시장성, 발전 가능성, 한계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70D54-C48F-4171-8941-E86DC105741B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2914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기존 차량에 붙이는 모듈로, 실차 적용 후 감지·출력·전력을 정량 검증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2BE97-39D0-46EB-8AFD-BDF677262751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49C997-0AB7-4900-8BD2-4B1C40D34992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35661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시장과 적용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E0D98-9074-4971-B02C-F0DB2AAC2F47}"/>
              </a:ext>
            </a:extLst>
          </p:cNvPr>
          <p:cNvSpPr>
            <a:spLocks noGrp="1"/>
          </p:cNvSpPr>
          <p:nvPr/>
        </p:nvSpPr>
        <p:spPr>
          <a:xfrm>
            <a:off x="804672" y="1783080"/>
            <a:ext cx="3291840" cy="2514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Euro NCAP 2026 CPD 평가, 국내 통학차량 하차 확인 의무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통학차량, 가족용 승용차, 렌터카, 카셰어링, 반려동물 동승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범용 보드와 공개 펌웨어, 양산 시 레이더 1칩 + MCU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5DA91E-D12A-4FE5-B017-DC8204C0B60C}"/>
              </a:ext>
            </a:extLst>
          </p:cNvPr>
          <p:cNvSpPr>
            <a:spLocks noGrp="1"/>
          </p:cNvSpPr>
          <p:nvPr/>
        </p:nvSpPr>
        <p:spPr>
          <a:xfrm>
            <a:off x="4315968" y="1325880"/>
            <a:ext cx="35661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발전 가능성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8404BD-E197-415F-8E18-19609959DD96}"/>
              </a:ext>
            </a:extLst>
          </p:cNvPr>
          <p:cNvSpPr>
            <a:spLocks noGrp="1"/>
          </p:cNvSpPr>
          <p:nvPr/>
        </p:nvSpPr>
        <p:spPr>
          <a:xfrm>
            <a:off x="4572000" y="1783080"/>
            <a:ext cx="3291840" cy="2514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CAN으로 창문, 공조, 비상등 직접 제어 (지금은 서보 모형 창문)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보호자 앱 푸시, 미응답 시 단계적 연락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거리 고정 레이더로 호흡 감지 (3차 측정 오차 0.4~1.4회/분, 2회)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D6B6D6-3F80-43F1-94F0-D536D91459EC}"/>
              </a:ext>
            </a:extLst>
          </p:cNvPr>
          <p:cNvSpPr>
            <a:spLocks noGrp="1"/>
          </p:cNvSpPr>
          <p:nvPr/>
        </p:nvSpPr>
        <p:spPr>
          <a:xfrm>
            <a:off x="8083296" y="1325880"/>
            <a:ext cx="355701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현재 한계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94F52B-4843-429A-8EB8-769704E01DAA}"/>
              </a:ext>
            </a:extLst>
          </p:cNvPr>
          <p:cNvSpPr>
            <a:spLocks noGrp="1"/>
          </p:cNvSpPr>
          <p:nvPr/>
        </p:nvSpPr>
        <p:spPr>
          <a:xfrm>
            <a:off x="8339327" y="1783080"/>
            <a:ext cx="3282696" cy="153903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 장착·시연 완료, 정량 성능은 후속 계측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Pi 상시 ON: 이벤트 기반 활성화 범위만 절감 주장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호흡은 정확도 주장 안 함, 레이더는 재실 판단에만 사용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3D7BF2-B37F-445B-BF67-F86249C8F6B8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</a:t>
            </a:r>
            <a:r>
              <a:rPr sz="1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결선 발표(11/6)까지 남은 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C0FA88-DD21-41E7-BC8E-E949DC061AF0}"/>
              </a:ext>
            </a:extLst>
          </p:cNvPr>
          <p:cNvSpPr>
            <a:spLocks noGrp="1"/>
          </p:cNvSpPr>
          <p:nvPr/>
        </p:nvSpPr>
        <p:spPr>
          <a:xfrm>
            <a:off x="804672" y="4983480"/>
            <a:ext cx="10817352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UWB 줄자 5 m 이탈 시험, 상태별 전력 실측 (12V 전류 + USB 전력계), 상태 전환 시간, Fail-Safe 장애 주입 고장별 10회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5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퇴장 뒤 유령 추적 대책: static2free 후보 비교 + 점 근거 확인을 메인 코드에 반영</a:t>
            </a:r>
          </a:p>
        </p:txBody>
      </p:sp>
    </p:spTree>
    <p:extLst>
      <p:ext uri="{BB962C8B-B14F-4D97-AF65-F5344CB8AC3E}">
        <p14:creationId xmlns:p14="http://schemas.microsoft.com/office/powerpoint/2010/main" val="132109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F5DDAE-B96A-4B30-B205-E3AA6A7DE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C3B341-6263-4B8B-8D2C-F4CFC4C967BF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A0691-4E9A-4B6C-9CFB-DC2C75793EE7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E2650-6B76-47C8-A24C-A2F182099537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48890-D14E-4088-81FD-20C41DA67B27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CF8BC1-1B22-4C3F-B4E2-A5D93E90B66C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AE197-1182-47AF-8F13-C837761AF3B9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A3849-4717-4D31-BDD5-76BFFE977294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097A4-5B1A-4979-AA50-AA18808FCA71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75C15D-32EA-4BAB-A20D-75F2F58BE6AA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7. 개발 일정 및 업무 분장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업무 분장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B42AB8-0592-4DE3-BD7E-C0A37A3EAEF8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업무 분장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F933A-FA3C-4FEC-93FA-8A9C538FE748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3명이 블록 하나씩 맡아 검증하고 인계 문서로 합쳤다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1FDBE-DF55-45A1-867F-642EDD16DFC1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5FB35D-73D9-457D-ABAC-3C5759007482}"/>
              </a:ext>
            </a:extLst>
          </p:cNvPr>
          <p:cNvGraphicFramePr/>
          <p:nvPr/>
        </p:nvGraphicFramePr>
        <p:xfrm>
          <a:off x="548640" y="1325880"/>
          <a:ext cx="1109167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1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No.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성명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 인원의 업무 분장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33333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윤현서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블록 A: 12V 전원 트리, 비상정지, MOSFET 팬, 부저 구동, ESP32 센서 노드 / 메인 통합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최서현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블록 C: UWB 2노드(차량측 TAG, 보호자측 ANCHOR), 이탈 판정 / 메인 통합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윤홍은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블록 B: Pi 5 세팅, Camera Module 3 움직임 검출, mmWave 펌웨어, cfg, 수신 리더, 정지 착석 시험, TwinLab 시뮬레이터</a:t>
                      </a:r>
                    </a:p>
                  </a:txBody>
                  <a:tcPr marL="54864" marR="54864" marT="27432" marB="2743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0776044-2223-4E04-B986-6100AD015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9" y="4343400"/>
            <a:ext cx="2682240" cy="20116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6A03CE-78C6-4650-AAC4-B70F8E5394D5}"/>
              </a:ext>
            </a:extLst>
          </p:cNvPr>
          <p:cNvSpPr>
            <a:spLocks noGrp="1"/>
          </p:cNvSpPr>
          <p:nvPr/>
        </p:nvSpPr>
        <p:spPr>
          <a:xfrm>
            <a:off x="3520440" y="4617720"/>
            <a:ext cx="8119872" cy="1691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협업 방식 </a:t>
            </a:r>
            <a:r>
              <a:rPr sz="13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블록별 단독 검증 → 인계 문서(HANDOFF) → 메인 통합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기록 공유 </a:t>
            </a:r>
            <a:r>
              <a:rPr sz="13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시험마다 원본 CSV, 사진, SHA256을 회신 패키지로 전달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▪  </a:t>
            </a:r>
            <a:r>
              <a:rPr sz="13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코드 관리 </a:t>
            </a:r>
            <a:r>
              <a:rPr sz="130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GitHub Organization(SafeGuard-EWHA)에서 각자 계정으로 커밋</a:t>
            </a:r>
          </a:p>
        </p:txBody>
      </p:sp>
    </p:spTree>
    <p:extLst>
      <p:ext uri="{BB962C8B-B14F-4D97-AF65-F5344CB8AC3E}">
        <p14:creationId xmlns:p14="http://schemas.microsoft.com/office/powerpoint/2010/main" val="167750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48B86-555B-4336-9E35-A955C5F68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341809-A376-47C6-A080-B4AA4A843BCA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2B9AF-BA5B-4B4F-89DD-966E978603FE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78CC4-56BD-4FED-B75B-DCA819979E9A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1C2DE-58FE-4358-910A-2982FB4F3B88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16734-5828-4AA2-B260-4B018FB7E0A3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E8883-B814-495F-A2E3-EA3FBB6A9D21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7A666-02E9-4791-A675-66953CE4E86B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DC47EF-A3DE-4BBE-96BB-62BFE6E7C120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277295" cy="109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CAD5DD-7F11-44B6-85DF-5CDF5678AD2C}"/>
              </a:ext>
            </a:extLst>
          </p:cNvPr>
          <p:cNvSpPr>
            <a:spLocks noGrp="1"/>
          </p:cNvSpPr>
          <p:nvPr/>
        </p:nvSpPr>
        <p:spPr>
          <a:xfrm>
            <a:off x="502920" y="740664"/>
            <a:ext cx="822960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HOME   ›   7. 개발 일정 및 업무 분장   ›   </a:t>
            </a:r>
            <a:r>
              <a:rPr sz="9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개발 일정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F92EE-FA2D-46CC-A616-4108F59F5AC5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개발 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CA156-E8CF-44E4-BE0D-C63D8E087F67}"/>
              </a:ext>
            </a:extLst>
          </p:cNvPr>
          <p:cNvSpPr>
            <a:spLocks noGrp="1"/>
          </p:cNvSpPr>
          <p:nvPr/>
        </p:nvSpPr>
        <p:spPr>
          <a:xfrm>
            <a:off x="502920" y="6382512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1" i="0">
                <a:solidFill>
                  <a:srgbClr val="1C2B4F"/>
                </a:solidFill>
                <a:latin typeface="Malgun Gothic"/>
                <a:ea typeface="Malgun Gothic"/>
                <a:cs typeface="Malgun Gothic"/>
              </a:rPr>
              <a:t>━  핵심     </a:t>
            </a:r>
            <a:r>
              <a:rPr sz="135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9월 장비 수령 뒤 6주 동안 블록 검증과 통합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2A7EB-258D-4C58-91CF-824A5CA23D12}"/>
              </a:ext>
            </a:extLst>
          </p:cNvPr>
          <p:cNvSpPr>
            <a:spLocks noGrp="1"/>
          </p:cNvSpPr>
          <p:nvPr/>
        </p:nvSpPr>
        <p:spPr>
          <a:xfrm>
            <a:off x="11247120" y="6473952"/>
            <a:ext cx="484632" cy="2125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9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F22083-B14D-4502-AD8D-BE3F891C8E0F}"/>
              </a:ext>
            </a:extLst>
          </p:cNvPr>
          <p:cNvSpPr>
            <a:spLocks noGrp="1"/>
          </p:cNvSpPr>
          <p:nvPr/>
        </p:nvSpPr>
        <p:spPr>
          <a:xfrm>
            <a:off x="3840480" y="1371600"/>
            <a:ext cx="1263396" cy="365760"/>
          </a:xfrm>
          <a:prstGeom prst="roundRect">
            <a:avLst>
              <a:gd name="adj" fmla="val 10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5F0C6D-2DF0-4452-A7F3-38E5DBAF2D5F}"/>
              </a:ext>
            </a:extLst>
          </p:cNvPr>
          <p:cNvSpPr>
            <a:spLocks noGrp="1"/>
          </p:cNvSpPr>
          <p:nvPr/>
        </p:nvSpPr>
        <p:spPr>
          <a:xfrm>
            <a:off x="3840480" y="1371600"/>
            <a:ext cx="126339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5월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A0B0C20-0250-4F8E-AFCB-9D9419F1906F}"/>
              </a:ext>
            </a:extLst>
          </p:cNvPr>
          <p:cNvSpPr>
            <a:spLocks noGrp="1"/>
          </p:cNvSpPr>
          <p:nvPr/>
        </p:nvSpPr>
        <p:spPr>
          <a:xfrm>
            <a:off x="5140452" y="1371600"/>
            <a:ext cx="1263396" cy="365760"/>
          </a:xfrm>
          <a:prstGeom prst="roundRect">
            <a:avLst>
              <a:gd name="adj" fmla="val 10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D91D7E-9BB3-4C21-9B52-1F7B6E86C594}"/>
              </a:ext>
            </a:extLst>
          </p:cNvPr>
          <p:cNvSpPr>
            <a:spLocks noGrp="1"/>
          </p:cNvSpPr>
          <p:nvPr/>
        </p:nvSpPr>
        <p:spPr>
          <a:xfrm>
            <a:off x="5140452" y="1371600"/>
            <a:ext cx="126339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6월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A272EBC-191C-4E16-82AA-8E8F07F14967}"/>
              </a:ext>
            </a:extLst>
          </p:cNvPr>
          <p:cNvSpPr>
            <a:spLocks noGrp="1"/>
          </p:cNvSpPr>
          <p:nvPr/>
        </p:nvSpPr>
        <p:spPr>
          <a:xfrm>
            <a:off x="6440424" y="1371600"/>
            <a:ext cx="1263396" cy="365760"/>
          </a:xfrm>
          <a:prstGeom prst="roundRect">
            <a:avLst>
              <a:gd name="adj" fmla="val 10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E811FF-FE0F-4E67-A382-0CA6C7F350E5}"/>
              </a:ext>
            </a:extLst>
          </p:cNvPr>
          <p:cNvSpPr>
            <a:spLocks noGrp="1"/>
          </p:cNvSpPr>
          <p:nvPr/>
        </p:nvSpPr>
        <p:spPr>
          <a:xfrm>
            <a:off x="6440424" y="1371600"/>
            <a:ext cx="126339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7월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EE5BB9-7670-44BC-A0BC-867C8A51F713}"/>
              </a:ext>
            </a:extLst>
          </p:cNvPr>
          <p:cNvSpPr>
            <a:spLocks noGrp="1"/>
          </p:cNvSpPr>
          <p:nvPr/>
        </p:nvSpPr>
        <p:spPr>
          <a:xfrm>
            <a:off x="7740396" y="1371600"/>
            <a:ext cx="1263396" cy="365760"/>
          </a:xfrm>
          <a:prstGeom prst="roundRect">
            <a:avLst>
              <a:gd name="adj" fmla="val 10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B4293-9AA1-4CF6-8E76-AFD01B19E2CB}"/>
              </a:ext>
            </a:extLst>
          </p:cNvPr>
          <p:cNvSpPr>
            <a:spLocks noGrp="1"/>
          </p:cNvSpPr>
          <p:nvPr/>
        </p:nvSpPr>
        <p:spPr>
          <a:xfrm>
            <a:off x="7740396" y="1371600"/>
            <a:ext cx="126339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8월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B4E8CAC-9B26-4D9D-A9D9-DF9F302F75AD}"/>
              </a:ext>
            </a:extLst>
          </p:cNvPr>
          <p:cNvSpPr>
            <a:spLocks noGrp="1"/>
          </p:cNvSpPr>
          <p:nvPr/>
        </p:nvSpPr>
        <p:spPr>
          <a:xfrm>
            <a:off x="9040368" y="1371600"/>
            <a:ext cx="1263396" cy="365760"/>
          </a:xfrm>
          <a:prstGeom prst="roundRect">
            <a:avLst>
              <a:gd name="adj" fmla="val 10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34E6E8-C036-4F98-B6AC-0FCA5722BCE8}"/>
              </a:ext>
            </a:extLst>
          </p:cNvPr>
          <p:cNvSpPr>
            <a:spLocks noGrp="1"/>
          </p:cNvSpPr>
          <p:nvPr/>
        </p:nvSpPr>
        <p:spPr>
          <a:xfrm>
            <a:off x="9040368" y="1371600"/>
            <a:ext cx="126339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69C6D8A-5228-4F08-85B6-1968AF55DCAE}"/>
              </a:ext>
            </a:extLst>
          </p:cNvPr>
          <p:cNvSpPr>
            <a:spLocks noGrp="1"/>
          </p:cNvSpPr>
          <p:nvPr/>
        </p:nvSpPr>
        <p:spPr>
          <a:xfrm>
            <a:off x="10340340" y="1371600"/>
            <a:ext cx="1263396" cy="365760"/>
          </a:xfrm>
          <a:prstGeom prst="roundRect">
            <a:avLst>
              <a:gd name="adj" fmla="val 10000"/>
            </a:avLst>
          </a:prstGeom>
          <a:solidFill>
            <a:srgbClr val="1C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960CB0-DFBF-4C92-BDB0-499BAD88A039}"/>
              </a:ext>
            </a:extLst>
          </p:cNvPr>
          <p:cNvSpPr>
            <a:spLocks noGrp="1"/>
          </p:cNvSpPr>
          <p:nvPr/>
        </p:nvSpPr>
        <p:spPr>
          <a:xfrm>
            <a:off x="10340340" y="1371600"/>
            <a:ext cx="126339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757636-CBEE-4E7B-B82B-3D13BC150C7C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개발계획서, 예선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9993069-BFC2-45A8-BC71-12D6F592DE4A}"/>
              </a:ext>
            </a:extLst>
          </p:cNvPr>
          <p:cNvSpPr>
            <a:spLocks noGrp="1"/>
          </p:cNvSpPr>
          <p:nvPr/>
        </p:nvSpPr>
        <p:spPr>
          <a:xfrm>
            <a:off x="3840480" y="1984248"/>
            <a:ext cx="1754962" cy="292608"/>
          </a:xfrm>
          <a:prstGeom prst="roundRect">
            <a:avLst>
              <a:gd name="adj" fmla="val 30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90EA2E-DBAD-42F3-B84F-B0D6BBD33790}"/>
              </a:ext>
            </a:extLst>
          </p:cNvPr>
          <p:cNvSpPr>
            <a:spLocks noGrp="1"/>
          </p:cNvSpPr>
          <p:nvPr/>
        </p:nvSpPr>
        <p:spPr>
          <a:xfrm>
            <a:off x="548640" y="2450592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1차 프로토타입 (Pi 4B), 논문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B65F5A8-C40E-4CF5-AC35-9C8C4386A31B}"/>
              </a:ext>
            </a:extLst>
          </p:cNvPr>
          <p:cNvSpPr>
            <a:spLocks noGrp="1"/>
          </p:cNvSpPr>
          <p:nvPr/>
        </p:nvSpPr>
        <p:spPr>
          <a:xfrm>
            <a:off x="5530443" y="2514600"/>
            <a:ext cx="1039977" cy="292608"/>
          </a:xfrm>
          <a:prstGeom prst="roundRect">
            <a:avLst>
              <a:gd name="adj" fmla="val 30000"/>
            </a:avLst>
          </a:prstGeom>
          <a:solidFill>
            <a:srgbClr val="3E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41D89F-EF79-47AE-BFBA-78201E3E892F}"/>
              </a:ext>
            </a:extLst>
          </p:cNvPr>
          <p:cNvSpPr>
            <a:spLocks noGrp="1"/>
          </p:cNvSpPr>
          <p:nvPr/>
        </p:nvSpPr>
        <p:spPr>
          <a:xfrm>
            <a:off x="548640" y="2980944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TwinLab 시뮬레이터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751B2BD-535F-4B26-8CAA-E6E693D89194}"/>
              </a:ext>
            </a:extLst>
          </p:cNvPr>
          <p:cNvSpPr>
            <a:spLocks noGrp="1"/>
          </p:cNvSpPr>
          <p:nvPr/>
        </p:nvSpPr>
        <p:spPr>
          <a:xfrm>
            <a:off x="5920435" y="3044951"/>
            <a:ext cx="1819960" cy="292608"/>
          </a:xfrm>
          <a:prstGeom prst="roundRect">
            <a:avLst>
              <a:gd name="adj" fmla="val 30000"/>
            </a:avLst>
          </a:prstGeom>
          <a:solidFill>
            <a:srgbClr val="2E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188ABA-A4B2-42C6-8700-5B7F76D1B830}"/>
              </a:ext>
            </a:extLst>
          </p:cNvPr>
          <p:cNvSpPr>
            <a:spLocks noGrp="1"/>
          </p:cNvSpPr>
          <p:nvPr/>
        </p:nvSpPr>
        <p:spPr>
          <a:xfrm>
            <a:off x="548640" y="3511296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장비 수령, 중간발표 (9/12, 9/21)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5B3E453-4203-4E9A-94BD-1CC92242A4D1}"/>
              </a:ext>
            </a:extLst>
          </p:cNvPr>
          <p:cNvSpPr>
            <a:spLocks noGrp="1"/>
          </p:cNvSpPr>
          <p:nvPr/>
        </p:nvSpPr>
        <p:spPr>
          <a:xfrm>
            <a:off x="9495358" y="3575303"/>
            <a:ext cx="519988" cy="292608"/>
          </a:xfrm>
          <a:prstGeom prst="roundRect">
            <a:avLst>
              <a:gd name="adj" fmla="val 30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E1B934-391B-4D94-837D-494058270811}"/>
              </a:ext>
            </a:extLst>
          </p:cNvPr>
          <p:cNvSpPr>
            <a:spLocks noGrp="1"/>
          </p:cNvSpPr>
          <p:nvPr/>
        </p:nvSpPr>
        <p:spPr>
          <a:xfrm>
            <a:off x="548640" y="4041648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블록 A/B/C 단독 검증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FCC923A-CAD5-493B-ABFB-638AAF1A865F}"/>
              </a:ext>
            </a:extLst>
          </p:cNvPr>
          <p:cNvSpPr>
            <a:spLocks noGrp="1"/>
          </p:cNvSpPr>
          <p:nvPr/>
        </p:nvSpPr>
        <p:spPr>
          <a:xfrm>
            <a:off x="9690354" y="4105656"/>
            <a:ext cx="1364970" cy="292608"/>
          </a:xfrm>
          <a:prstGeom prst="roundRect">
            <a:avLst>
              <a:gd name="adj" fmla="val 30000"/>
            </a:avLst>
          </a:prstGeom>
          <a:solidFill>
            <a:srgbClr val="2E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0FE91-2C92-4149-9726-325F54626576}"/>
              </a:ext>
            </a:extLst>
          </p:cNvPr>
          <p:cNvSpPr>
            <a:spLocks noGrp="1"/>
          </p:cNvSpPr>
          <p:nvPr/>
        </p:nvSpPr>
        <p:spPr>
          <a:xfrm>
            <a:off x="548640" y="4572000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mmWave 펌웨어, 정지 착석 시험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369CF94-B857-4291-A52F-73EE907DB602}"/>
              </a:ext>
            </a:extLst>
          </p:cNvPr>
          <p:cNvSpPr>
            <a:spLocks noGrp="1"/>
          </p:cNvSpPr>
          <p:nvPr/>
        </p:nvSpPr>
        <p:spPr>
          <a:xfrm>
            <a:off x="11250320" y="4636008"/>
            <a:ext cx="194995" cy="292608"/>
          </a:xfrm>
          <a:prstGeom prst="roundRect">
            <a:avLst>
              <a:gd name="adj" fmla="val 30000"/>
            </a:avLst>
          </a:prstGeom>
          <a:solidFill>
            <a:srgbClr val="2E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BC518A-AED4-41A7-AC82-3500623CC298}"/>
              </a:ext>
            </a:extLst>
          </p:cNvPr>
          <p:cNvSpPr>
            <a:spLocks noGrp="1"/>
          </p:cNvSpPr>
          <p:nvPr/>
        </p:nvSpPr>
        <p:spPr>
          <a:xfrm>
            <a:off x="548640" y="5102352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메인 통합, FSM, 장애 주입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2240599-BB6B-4A04-8454-2BB37AA1C5F8}"/>
              </a:ext>
            </a:extLst>
          </p:cNvPr>
          <p:cNvSpPr>
            <a:spLocks noGrp="1"/>
          </p:cNvSpPr>
          <p:nvPr/>
        </p:nvSpPr>
        <p:spPr>
          <a:xfrm>
            <a:off x="11380317" y="5166360"/>
            <a:ext cx="259994" cy="292608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24366C-17C7-4C2A-AE26-B98F48E6E6D0}"/>
              </a:ext>
            </a:extLst>
          </p:cNvPr>
          <p:cNvSpPr>
            <a:spLocks noGrp="1"/>
          </p:cNvSpPr>
          <p:nvPr/>
        </p:nvSpPr>
        <p:spPr>
          <a:xfrm>
            <a:off x="548640" y="5632704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결선 서류 (10/28), 발표 (11/6)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FB67558-9249-446C-820B-04D3C2967913}"/>
              </a:ext>
            </a:extLst>
          </p:cNvPr>
          <p:cNvSpPr>
            <a:spLocks noGrp="1"/>
          </p:cNvSpPr>
          <p:nvPr/>
        </p:nvSpPr>
        <p:spPr>
          <a:xfrm>
            <a:off x="11484315" y="5696712"/>
            <a:ext cx="164592" cy="292608"/>
          </a:xfrm>
          <a:prstGeom prst="roundRect">
            <a:avLst>
              <a:gd name="adj" fmla="val 30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0041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2A8011-5FE5-46D0-B6C5-FD0975120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1701671" cy="438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5A44F8-407B-404C-B8BB-84D8EE865070}"/>
              </a:ext>
            </a:extLst>
          </p:cNvPr>
          <p:cNvSpPr>
            <a:spLocks noGrp="1"/>
          </p:cNvSpPr>
          <p:nvPr/>
        </p:nvSpPr>
        <p:spPr>
          <a:xfrm>
            <a:off x="489204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99B56-437A-443B-885B-D58D63586268}"/>
              </a:ext>
            </a:extLst>
          </p:cNvPr>
          <p:cNvSpPr>
            <a:spLocks noGrp="1"/>
          </p:cNvSpPr>
          <p:nvPr/>
        </p:nvSpPr>
        <p:spPr>
          <a:xfrm>
            <a:off x="5869141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E25C7-0C38-4527-9D84-91D000DA42F3}"/>
              </a:ext>
            </a:extLst>
          </p:cNvPr>
          <p:cNvSpPr>
            <a:spLocks noGrp="1"/>
          </p:cNvSpPr>
          <p:nvPr/>
        </p:nvSpPr>
        <p:spPr>
          <a:xfrm>
            <a:off x="6846243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5CC13-8069-446E-A9DE-9352DBA2E968}"/>
              </a:ext>
            </a:extLst>
          </p:cNvPr>
          <p:cNvSpPr>
            <a:spLocks noGrp="1"/>
          </p:cNvSpPr>
          <p:nvPr/>
        </p:nvSpPr>
        <p:spPr>
          <a:xfrm>
            <a:off x="7823345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장애요인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3CA70-BA72-435A-9B6A-B714372CEC76}"/>
              </a:ext>
            </a:extLst>
          </p:cNvPr>
          <p:cNvSpPr>
            <a:spLocks noGrp="1"/>
          </p:cNvSpPr>
          <p:nvPr/>
        </p:nvSpPr>
        <p:spPr>
          <a:xfrm>
            <a:off x="8800446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차별성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065A9-DED3-4BE0-83A1-9F963AD96EC3}"/>
              </a:ext>
            </a:extLst>
          </p:cNvPr>
          <p:cNvSpPr>
            <a:spLocks noGrp="1"/>
          </p:cNvSpPr>
          <p:nvPr/>
        </p:nvSpPr>
        <p:spPr>
          <a:xfrm>
            <a:off x="9777548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9FC75-A076-405F-A624-7ACC453E1191}"/>
              </a:ext>
            </a:extLst>
          </p:cNvPr>
          <p:cNvSpPr>
            <a:spLocks noGrp="1"/>
          </p:cNvSpPr>
          <p:nvPr/>
        </p:nvSpPr>
        <p:spPr>
          <a:xfrm>
            <a:off x="10754650" y="219456"/>
            <a:ext cx="977101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15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1BF7D8-97AD-4425-84B0-8FAA6AB5A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8800"/>
            <a:ext cx="12191695" cy="2377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69E9F6-DE5B-4EB1-BE75-10095C0041E7}"/>
              </a:ext>
            </a:extLst>
          </p:cNvPr>
          <p:cNvSpPr>
            <a:spLocks noGrp="1"/>
          </p:cNvSpPr>
          <p:nvPr/>
        </p:nvSpPr>
        <p:spPr>
          <a:xfrm>
            <a:off x="731520" y="2331720"/>
            <a:ext cx="10728655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4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경청해 주셔서 감사합니다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DFFA5-83A6-4018-9E1C-52B8F60E3BB7}"/>
              </a:ext>
            </a:extLst>
          </p:cNvPr>
          <p:cNvSpPr>
            <a:spLocks noGrp="1"/>
          </p:cNvSpPr>
          <p:nvPr/>
        </p:nvSpPr>
        <p:spPr>
          <a:xfrm>
            <a:off x="731520" y="3154680"/>
            <a:ext cx="1072865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600" b="0" i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두고내리지말아조  |  윤현서, 최서현, 윤홍은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15233B-1E75-47EC-B490-60638C039C4F}"/>
              </a:ext>
            </a:extLst>
          </p:cNvPr>
          <p:cNvSpPr>
            <a:spLocks noGrp="1"/>
          </p:cNvSpPr>
          <p:nvPr/>
        </p:nvSpPr>
        <p:spPr>
          <a:xfrm>
            <a:off x="731520" y="4572000"/>
            <a:ext cx="10728655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40000"/>
              </a:lnSpc>
              <a:buNone/>
            </a:pPr>
            <a:r>
              <a:rPr sz="12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소스코드   </a:t>
            </a: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github.com/SafeGuard-EWHA/2026ESWContest_mobility_DugoNaerijiMarajo</a:t>
            </a:r>
          </a:p>
          <a:p>
            <a:pPr algn="ctr">
              <a:lnSpc>
                <a:spcPct val="140000"/>
              </a:lnSpc>
              <a:buNone/>
            </a:pPr>
            <a:r>
              <a:rPr sz="1200" b="1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시연 영상   </a:t>
            </a: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실차 시연 영상 (2026.10.28, 시연 영상 URL 입력 필요)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F26DC8-20C8-4FFC-95C4-47144F532542}"/>
              </a:ext>
            </a:extLst>
          </p:cNvPr>
          <p:cNvSpPr>
            <a:spLocks noGrp="1"/>
          </p:cNvSpPr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00" b="0" i="0">
                <a:solidFill>
                  <a:srgbClr val="8A949E"/>
                </a:solidFill>
                <a:latin typeface="Malgun Gothic"/>
                <a:ea typeface="Malgun Gothic"/>
                <a:cs typeface="Malgun Gothic"/>
              </a:rPr>
              <a:t>2026. 10. 28</a:t>
            </a:r>
          </a:p>
        </p:txBody>
      </p:sp>
    </p:spTree>
    <p:extLst>
      <p:ext uri="{BB962C8B-B14F-4D97-AF65-F5344CB8AC3E}">
        <p14:creationId xmlns:p14="http://schemas.microsoft.com/office/powerpoint/2010/main" val="1875896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3857</Words>
  <Application>Microsoft Office PowerPoint</Application>
  <DocSecurity>0</DocSecurity>
  <PresentationFormat>와이드스크린</PresentationFormat>
  <Paragraphs>704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현서 윤</cp:lastModifiedBy>
  <cp:revision>1</cp:revision>
  <dcterms:created xsi:type="dcterms:W3CDTF">2026-10-28T04:11:08Z</dcterms:created>
  <dcterms:modified xsi:type="dcterms:W3CDTF">2026-10-28T04:32:28Z</dcterms:modified>
</cp:coreProperties>
</file>