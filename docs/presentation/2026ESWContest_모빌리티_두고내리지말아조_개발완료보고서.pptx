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jpg"/><Relationship Id="rId4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146304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제24회 임베디드SW경진대회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7315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Malgun Gothic"/>
              </a:rPr>
              <a:t>자동차/모빌리티 부문  |  개발완료보고서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783080"/>
            <a:ext cx="822960" cy="27432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365992" y="1783080"/>
            <a:ext cx="822960" cy="27432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1005840"/>
            <a:ext cx="9966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UWB와 mmWave를 융합한 Cascading Wake-up 기반</a:t>
            </a:r>
          </a:p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차량 내 잔류 탑승자 선제 보호 시스템, SafeGuard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31720"/>
            <a:ext cx="99669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8CCD0"/>
                </a:solidFill>
                <a:latin typeface="Malgun Gothic"/>
              </a:rPr>
              <a:t>SafeGuard: Event-driven Cascading Wake-up System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8CCD0"/>
                </a:solidFill>
                <a:latin typeface="Malgun Gothic"/>
              </a:rPr>
              <a:t>for In-vehicle Occupant Protection</a:t>
            </a:r>
          </a:p>
        </p:txBody>
      </p:sp>
      <p:pic>
        <p:nvPicPr>
          <p:cNvPr id="10" name="Picture 9" descr="car_side_ted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3246120"/>
            <a:ext cx="4084320" cy="3063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[팀번호]_두고내리지말아조:  윤현서, 최서현, 윤홍은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526280"/>
            <a:ext cx="54864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이화여자대학교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소스코드  github.com/SafeGuard-EWHA/2026ESWContest_mobility_DugoNaerijiMarajo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시연 영상  youtu.be/[시연 영상 업로드 후 주소 입력]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989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B7F"/>
                </a:solidFill>
                <a:latin typeface="Malgun Gothic"/>
              </a:rPr>
              <a:t>시연 시제품: 유아용 전동차 + 인형(잔류 탑승자 역할), 2026.10.28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008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E"/>
                </a:solidFill>
                <a:latin typeface="Malgun Gothic"/>
              </a:rPr>
              <a:t>2026. 10. 28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1. 개발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82880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배경과 필요성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온도가 오른 뒤에 알리면 이미 늦다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4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2468879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0392B"/>
                </a:solidFill>
                <a:latin typeface="Malgun Gothic"/>
              </a:rPr>
              <a:t>2~3배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2468879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B7F"/>
                </a:solidFill>
                <a:latin typeface="Malgun Gothic"/>
              </a:rPr>
              <a:t>직사광선 아래 차량 실내 온도
(외기 대비 상승 배율)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4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74720" y="1508760"/>
            <a:ext cx="2468879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0392B"/>
                </a:solidFill>
                <a:latin typeface="Malgun Gothic"/>
              </a:rPr>
              <a:t>1,000명+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212848"/>
            <a:ext cx="2468879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B7F"/>
                </a:solidFill>
                <a:latin typeface="Malgun Gothic"/>
              </a:rPr>
              <a:t>1998년 이후 미국 고온 차량
아동 사망 (NHTSA)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4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9359" y="1508760"/>
            <a:ext cx="2468879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F1F1F"/>
                </a:solidFill>
                <a:latin typeface="Malgun Gothic"/>
              </a:rPr>
              <a:t>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212848"/>
            <a:ext cx="2468879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B7F"/>
                </a:solidFill>
                <a:latin typeface="Malgun Gothic"/>
              </a:rPr>
              <a:t>Euro NCAP 어린이 잔류 감지
(CPD) 평가 항목 포함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417320"/>
            <a:ext cx="2587752" cy="1371600"/>
          </a:xfrm>
          <a:prstGeom prst="roundRect">
            <a:avLst>
              <a:gd name="adj" fmla="val 6000"/>
            </a:avLst>
          </a:prstGeom>
          <a:solidFill>
            <a:srgbClr val="F4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1508760"/>
            <a:ext cx="2404872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F1F1F"/>
                </a:solidFill>
                <a:latin typeface="Malgun Gothic"/>
              </a:rPr>
              <a:t>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12848"/>
            <a:ext cx="2404872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B7F"/>
                </a:solidFill>
                <a:latin typeface="Malgun Gothic"/>
              </a:rPr>
              <a:t>국내 어린이 통학차량
하차 확인 장치 의무화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063240"/>
            <a:ext cx="5486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기존 방식의 한계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520440"/>
            <a:ext cx="521208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단일 센서 의존 </a:t>
            </a:r>
            <a:r>
              <a:rPr sz="1400">
                <a:solidFill>
                  <a:srgbClr val="222222"/>
                </a:solidFill>
                <a:latin typeface="Malgun Gothic"/>
              </a:rPr>
              <a:t>PIR은 정지한 아이를, 카메라는 어둠, 가림을 놓친다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상시 구동 </a:t>
            </a:r>
            <a:r>
              <a:rPr sz="1400">
                <a:solidFill>
                  <a:srgbClr val="222222"/>
                </a:solidFill>
                <a:latin typeface="Malgun Gothic"/>
              </a:rPr>
              <a:t>모든 센서를 계속 켜 두면 주차 중 배터리 부담이 크다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사후 대응 </a:t>
            </a:r>
            <a:r>
              <a:rPr sz="1400">
                <a:solidFill>
                  <a:srgbClr val="222222"/>
                </a:solidFill>
                <a:latin typeface="Malgun Gothic"/>
              </a:rPr>
              <a:t>‘현재 온도 &gt; 기준’이면 이미 위험 구간에 들어선 뒤다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단순 알림 </a:t>
            </a:r>
            <a:r>
              <a:rPr sz="1400">
                <a:solidFill>
                  <a:srgbClr val="222222"/>
                </a:solidFill>
                <a:latin typeface="Malgun Gothic"/>
              </a:rPr>
              <a:t>알림만 보내고 실내 환경을 직접 바꾸지 못한다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063240"/>
            <a:ext cx="5422392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개발 동기와 필요성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520440"/>
            <a:ext cx="5148072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동기 </a:t>
            </a:r>
            <a:r>
              <a:rPr sz="1400">
                <a:solidFill>
                  <a:srgbClr val="222222"/>
                </a:solidFill>
                <a:latin typeface="Malgun Gothic"/>
              </a:rPr>
              <a:t>‘잠깐이면 괜찮겠지’ 하는 순간의 사고를 막으려면, 보호자가 차를 떠나는 시점부터 자동으로 확인하는 장치가 필요하다고 판단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필요성 </a:t>
            </a:r>
            <a:r>
              <a:rPr sz="1400">
                <a:solidFill>
                  <a:srgbClr val="222222"/>
                </a:solidFill>
                <a:latin typeface="Malgun Gothic"/>
              </a:rPr>
              <a:t>CPD 규제, 평가가 본격화되어, 기존 차량에도 붙일 수 있는 저가, 저전력 잔류 감지 모듈의 수요가 생긴다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6327648"/>
            <a:ext cx="542239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8A949E"/>
                </a:solidFill>
                <a:latin typeface="Malgun Gothic"/>
              </a:rPr>
              <a:t>출처: 도로교통공단 차량 실내 온도 실험, NHTSA Heatstroke, Euro NCAP 2026 CPD 프로토콜, 도로교통법 어린이통학버스 규정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1. 개발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19456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목표와 작품 개념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Cascading Wake-up + 35°C 도달 전 선제 보호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보호자가 떠난 순간부터 필요한 센서만 차례로 깨운다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2</a:t>
            </a:r>
          </a:p>
        </p:txBody>
      </p:sp>
      <p:pic>
        <p:nvPicPr>
          <p:cNvPr id="12" name="Picture 11" descr="회로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84" y="1362456"/>
            <a:ext cx="7103871" cy="3995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376672"/>
            <a:ext cx="7406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1. 동작 개념도 (7월 1차 설계 그림. 결선에서는 레이더 IWR6843, 온습도 SHT31, 구동 ESP32로 교체)</a:t>
            </a:r>
          </a:p>
        </p:txBody>
      </p:sp>
      <p:sp>
        <p:nvSpPr>
          <p:cNvPr id="14" name="Oval 13"/>
          <p:cNvSpPr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rgbClr val="8DB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132588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1F1F"/>
                </a:solidFill>
                <a:latin typeface="Malgun Gothic"/>
              </a:rPr>
              <a:t>놓치지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783080"/>
            <a:ext cx="301752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평소엔 PIR 또는 카메라 하나만 반응해도 레이더로 확인. 레이더가 고장 나면 PIR과 카메라가 둘 다 반응할 때 ‘의심’으로 보호.</a:t>
            </a:r>
          </a:p>
        </p:txBody>
      </p:sp>
      <p:sp>
        <p:nvSpPr>
          <p:cNvPr id="17" name="Oval 16"/>
          <p:cNvSpPr/>
          <p:nvPr/>
        </p:nvSpPr>
        <p:spPr>
          <a:xfrm>
            <a:off x="8001000" y="2852928"/>
            <a:ext cx="502920" cy="5029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807208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1F1F"/>
                </a:solidFill>
                <a:latin typeface="Malgun Gothic"/>
              </a:rPr>
              <a:t>필요할 때만 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3264408"/>
            <a:ext cx="301752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Pi 5만 상시 ON. 다음 센서와 연산은 앞 단계 이벤트가 있을 때만 활성화.</a:t>
            </a:r>
          </a:p>
        </p:txBody>
      </p:sp>
      <p:sp>
        <p:nvSpPr>
          <p:cNvPr id="20" name="Oval 19"/>
          <p:cNvSpPr/>
          <p:nvPr/>
        </p:nvSpPr>
        <p:spPr>
          <a:xfrm>
            <a:off x="8001000" y="4334256"/>
            <a:ext cx="502920" cy="502920"/>
          </a:xfrm>
          <a:prstGeom prst="ellipse">
            <a:avLst/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4288536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1F1F"/>
                </a:solidFill>
                <a:latin typeface="Malgun Gothic"/>
              </a:rPr>
              <a:t>뜨거워지기 전에 움직인다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745736"/>
            <a:ext cx="301752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현재 온도가 아니라 35°C 도달까지 남은 시간으로 판단해 팬, 부저를 먼저 켠다.</a:t>
            </a:r>
          </a:p>
        </p:txBody>
      </p:sp>
      <p:pic>
        <p:nvPicPr>
          <p:cNvPr id="23" name="Picture 22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245" y="5797296"/>
            <a:ext cx="277749" cy="4937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63040" y="5760720"/>
            <a:ext cx="1014984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B6B7F"/>
                </a:solidFill>
                <a:latin typeface="Malgun Gothic"/>
              </a:rPr>
              <a:t>7월 1차 시제품(Pi 4B, 릴레이, LCD)으로 이 흐름을 먼저 검증한 뒤, 결선 장비(Pi 5, IWR6843 레이더, DWM1001 UWB, ESP32)로 다시 만들었다.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1. 개발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384048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작품 요약, 소스코드, 시연 영상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유아용 전동차 안의 인형을 레이더가 찾고, 위험하면 팬과 부저가 켜진다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3</a:t>
            </a:r>
          </a:p>
        </p:txBody>
      </p:sp>
      <p:pic>
        <p:nvPicPr>
          <p:cNvPr id="11" name="Picture 10" descr="car_top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47" y="1316736"/>
            <a:ext cx="3545586" cy="47274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62472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2. 시연 시제품 전체 (2026.10.28)</a:t>
            </a:r>
          </a:p>
        </p:txBody>
      </p:sp>
      <p:pic>
        <p:nvPicPr>
          <p:cNvPr id="13" name="Picture 12" descr="radar_o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00300"/>
            <a:ext cx="1920240" cy="2560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51960" y="606247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3. 운전대 앞 레이더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37960" y="1280160"/>
          <a:ext cx="5102352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75588"/>
                <a:gridCol w="3826764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작품명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SafeGuard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부문 / 주제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자동차/모빌리티 (차량 내부 및 외부 정보 활용)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핵심 하드웨어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Raspberry Pi 5, ESP32, TI IWR6843ISK-ODS, DWM1001-DEV ×2, Camera Module 3, PIR, SHT31, 12V 팬, 부저, 서보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핵심 소프트웨어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C++ 상태기계와 열 관측기, Python 센서 허브, 레이더 TLV 해석, 프레임 차분, 보호자 대시보드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시연 플랫폼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유아용 전동차 + 인형 (잔류 탑승자 역할)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537960" y="4297680"/>
            <a:ext cx="5102352" cy="1600200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20840" y="438912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35400"/>
                </a:solidFill>
                <a:latin typeface="Malgun Gothic"/>
              </a:rPr>
              <a:t>소스코드 (GitHub)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70916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22222"/>
                </a:solidFill>
                <a:latin typeface="Malgun Gothic"/>
              </a:rPr>
              <a:t>github.com/SafeGuard-EWHA/2026ESWContest_mobility_DugoNaerijiMarajo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512064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35400"/>
                </a:solidFill>
                <a:latin typeface="Malgun Gothic"/>
              </a:rPr>
              <a:t>시연 동영상 (YouTube, 3분 이내)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544068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youtu.be/[시연 영상 업로드 후 주소 입력]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2. 개발 환경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82880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하드웨어 구성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3개 블록으로 나눠 각자 검증한 뒤 Pi 5에서 합쳤다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4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25880"/>
          <a:ext cx="6766560" cy="4937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2377440"/>
                <a:gridCol w="33832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블록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부품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역할, 연결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B: 판단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Raspberry Pi 5 (16 GB)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FSM, 온도 예측, 로그, 보호자 알림, 상시 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TI IWR6843ISK-ODS (60 GHz)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존재 검증. USB(CP2105) CLI 115200 / 데이터 921600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Camera Module 3 (imx708)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프레임 차분 움직임 검출 (1차 감지)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노드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ESP32 #1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PIR, SHT31 수집, 팬, 부저, 서보 구동, 시리얼 JSON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 EKMC4607112K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1차 감지 (GPIO27, 풀다운)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SHT31 온습도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실내 온도 → RC 예측 입력 (I2C 0x45)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구동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IRLZ44N MOSFET ×2, 12V 팬, 부저, DS3218 서보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능동 대응. 퓨즈 → 비상정지(NC) → 부하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C: 이탈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DWM1001-DEV ×2 (UWB)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차량측 TAG(Pi USB) ↔ 보호자측 ANCHOR(보조배터리)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uwb_pi_cam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88108"/>
            <a:ext cx="1938528" cy="2584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06640" y="6016752"/>
            <a:ext cx="2212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4. UWB, 카메라, Pi 5</a:t>
            </a:r>
          </a:p>
        </p:txBody>
      </p:sp>
      <p:pic>
        <p:nvPicPr>
          <p:cNvPr id="14" name="Picture 13" descr="esp32_pir_sht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4" y="2388108"/>
            <a:ext cx="1938528" cy="25847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518904" y="6016752"/>
            <a:ext cx="2212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5. ESP32, PIR, 온습도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2. 개발 환경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64592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전원과 배선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12V 구동부와 3.3V/5V 로직부 분리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12V 구동부는 비상정지 스위치가 직접 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5</a:t>
            </a:r>
          </a:p>
        </p:txBody>
      </p:sp>
      <p:pic>
        <p:nvPicPr>
          <p:cNvPr id="12" name="Picture 11" descr="wiring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413" y="1362456"/>
            <a:ext cx="3256853" cy="2944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4325112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6. 블록 A 배선: 12V → 퓨즈 → 비상정지(NC) → MOSFET → 팬, 부저 (빨강 12V, 파랑 신호)</a:t>
            </a:r>
          </a:p>
        </p:txBody>
      </p:sp>
      <p:pic>
        <p:nvPicPr>
          <p:cNvPr id="14" name="Picture 13" descr="blockA_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6880"/>
            <a:ext cx="1691639" cy="22555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80" y="4325112"/>
            <a:ext cx="1965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7. ESP32 노드 (10.28)</a:t>
            </a:r>
          </a:p>
        </p:txBody>
      </p:sp>
      <p:pic>
        <p:nvPicPr>
          <p:cNvPr id="16" name="Picture 15" descr="sht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737360"/>
            <a:ext cx="1645919" cy="2194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01000" y="4325112"/>
            <a:ext cx="1920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8. SHT31</a:t>
            </a:r>
          </a:p>
        </p:txBody>
      </p:sp>
      <p:pic>
        <p:nvPicPr>
          <p:cNvPr id="18" name="Picture 17" descr="power_con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749552"/>
            <a:ext cx="1627631" cy="21701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29800" y="4325112"/>
            <a:ext cx="19019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9. 12V 컨버터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800600"/>
          <a:ext cx="11091668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27966"/>
                <a:gridCol w="1785947"/>
                <a:gridCol w="2067938"/>
                <a:gridCol w="1221963"/>
                <a:gridCol w="1315961"/>
                <a:gridCol w="1127966"/>
                <a:gridCol w="2443927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ESP32 핀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SHT31 SDA/SCL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팬 MOSFET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부저 MOSFET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서보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Pi ↔ ESP32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GPIO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27 (INPUT_PULLDOWN)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32 / 33 (I2C 0x45)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18 / 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USB 시리얼 JSON 115200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메시지 예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{"pir":1}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{"temp":31.2,"hum":48}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FAN 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BUZ 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SRV1 90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명령 → ACK 회신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2. 개발 환경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82880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시스템 구성도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79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실선 = 유선, 점선 = 무선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판단은 Pi 5, 실시간 입출력은 ESP32가 맡는다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80160"/>
            <a:ext cx="8595360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4E7A2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1316736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E7A27"/>
                </a:solidFill>
                <a:latin typeface="Malgun Gothic"/>
              </a:rPr>
              <a:t>차량 내부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2E8B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36607" y="1316736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8B57"/>
                </a:solidFill>
                <a:latin typeface="Malgun Gothic"/>
              </a:rPr>
              <a:t>보호자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160020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967955"/>
            <a:ext cx="731520" cy="3617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45920" y="1709928"/>
            <a:ext cx="12527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F1F"/>
                </a:solidFill>
                <a:latin typeface="Malgun Gothic"/>
              </a:rPr>
              <a:t>카메라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057400"/>
            <a:ext cx="1252727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B7F"/>
                </a:solidFill>
                <a:latin typeface="Malgun Gothic"/>
              </a:rPr>
              <a:t>Camera Module 3
움직임 1차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6324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m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93728"/>
            <a:ext cx="731520" cy="43630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45920" y="3172968"/>
            <a:ext cx="12527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F1F"/>
                </a:solidFill>
                <a:latin typeface="Malgun Gothic"/>
              </a:rPr>
              <a:t>60 GHz 레이더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520440"/>
            <a:ext cx="1252727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B7F"/>
                </a:solidFill>
                <a:latin typeface="Malgun Gothic"/>
              </a:rPr>
              <a:t>IWR6843ISK-ODS
존재 검증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52628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890354"/>
            <a:ext cx="502920" cy="369130"/>
          </a:xfrm>
          <a:prstGeom prst="rect">
            <a:avLst/>
          </a:prstGeom>
        </p:spPr>
      </p:pic>
      <p:pic>
        <p:nvPicPr>
          <p:cNvPr id="26" name="Picture 25" descr="sht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4873043"/>
            <a:ext cx="502920" cy="40375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75104" y="4636008"/>
            <a:ext cx="92354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F1F"/>
                </a:solidFill>
                <a:latin typeface="Malgun Gothic"/>
              </a:rPr>
              <a:t>PIR, 온습도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5104" y="4983480"/>
            <a:ext cx="923543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B7F"/>
                </a:solidFill>
                <a:latin typeface="Malgun Gothic"/>
              </a:rPr>
              <a:t>1차 감지
SHT31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1600200"/>
            <a:ext cx="2697480" cy="2560320"/>
          </a:xfrm>
          <a:prstGeom prst="roundRect">
            <a:avLst>
              <a:gd name="adj" fmla="val 6000"/>
            </a:avLst>
          </a:prstGeom>
          <a:solidFill>
            <a:srgbClr val="5E93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4023360" y="1764792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594" y="1828800"/>
            <a:ext cx="1487251" cy="914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931920" y="2898648"/>
            <a:ext cx="2514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Malgun Gothic"/>
              </a:rPr>
              <a:t>Raspberry Pi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319272"/>
            <a:ext cx="25146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상태기계(FSM), 35°C 도달 예측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레이더 TLV 해석, 로그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0480" y="452628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FDF3E0"/>
          </a:solidFill>
          <a:ln w="9525">
            <a:solidFill>
              <a:srgbClr val="8DB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esp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4793800"/>
            <a:ext cx="1051560" cy="56223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74920" y="4636008"/>
            <a:ext cx="14173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35400"/>
                </a:solidFill>
                <a:latin typeface="Malgun Gothic"/>
              </a:rPr>
              <a:t>ESP32 노드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5001768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22222"/>
                </a:solidFill>
                <a:latin typeface="Malgun Gothic"/>
              </a:rPr>
              <a:t>센서 읽기
12V 구동 제어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494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uw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59168" y="1920687"/>
            <a:ext cx="685800" cy="45630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818119" y="1709928"/>
            <a:ext cx="111556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F1F"/>
                </a:solidFill>
                <a:latin typeface="Malgun Gothic"/>
              </a:rPr>
              <a:t>UWB 차량측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19" y="2057400"/>
            <a:ext cx="111556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B7F"/>
                </a:solidFill>
                <a:latin typeface="Malgun Gothic"/>
              </a:rPr>
              <a:t>DWM1001 TAG
거리 측정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49440" y="452628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fa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9168" y="4911976"/>
            <a:ext cx="457200" cy="325886"/>
          </a:xfrm>
          <a:prstGeom prst="rect">
            <a:avLst/>
          </a:prstGeom>
        </p:spPr>
      </p:pic>
      <p:pic>
        <p:nvPicPr>
          <p:cNvPr id="44" name="Picture 43" descr="buzz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71231" y="4778616"/>
            <a:ext cx="457200" cy="59260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01583" y="4636008"/>
            <a:ext cx="83210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F1F"/>
                </a:solidFill>
                <a:latin typeface="Malgun Gothic"/>
              </a:rPr>
              <a:t>팬, 부저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3" y="4983480"/>
            <a:ext cx="832103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B7F"/>
                </a:solidFill>
                <a:latin typeface="Malgun Gothic"/>
              </a:rPr>
              <a:t>MOSFET
비상정지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640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uw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3767" y="1920687"/>
            <a:ext cx="685800" cy="4563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332719" y="1709928"/>
            <a:ext cx="111556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E8B57"/>
                </a:solidFill>
                <a:latin typeface="Malgun Gothic"/>
              </a:rPr>
              <a:t>UWB 보호자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19" y="2057400"/>
            <a:ext cx="111556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B6B7F"/>
                </a:solidFill>
                <a:latin typeface="Malgun Gothic"/>
              </a:rPr>
              <a:t>ANCHOR
보조배터리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64040" y="3063240"/>
            <a:ext cx="2057400" cy="1417319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image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58579" y="3154680"/>
            <a:ext cx="1668320" cy="8686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464040" y="4041648"/>
            <a:ext cx="20574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E8B57"/>
                </a:solidFill>
                <a:latin typeface="Malgun Gothic"/>
              </a:rPr>
              <a:t>보호자 알림 화면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971800" y="2148840"/>
            <a:ext cx="868680" cy="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788920" y="1847088"/>
            <a:ext cx="1234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CSI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971800" y="3611880"/>
            <a:ext cx="868680" cy="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788920" y="3310128"/>
            <a:ext cx="1234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USB 921600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971800" y="5074920"/>
            <a:ext cx="868680" cy="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788920" y="4773168"/>
            <a:ext cx="1234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GPIO, I2C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6537960" y="2148840"/>
            <a:ext cx="411480" cy="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9672" y="182880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USB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9006840" y="2148840"/>
            <a:ext cx="45720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503920" y="1298448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UWB 거리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537960" y="3749039"/>
            <a:ext cx="292608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675120" y="3410712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Wi-Fi 알림: 위험 단계, 온도, 예상 시간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937760" y="4160520"/>
            <a:ext cx="0" cy="36576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532120" y="4215383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USB 시리얼 JSON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5440680" y="4160520"/>
            <a:ext cx="0" cy="36576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537960" y="5074920"/>
            <a:ext cx="411480" cy="0"/>
          </a:xfrm>
          <a:prstGeom prst="line">
            <a:avLst/>
          </a:prstGeom>
          <a:ln w="25400">
            <a:solidFill>
              <a:srgbClr val="4E7A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F1F1F"/>
                </a:solidFill>
                <a:latin typeface="Malgun Gothic"/>
              </a:rPr>
              <a:t>개발 환경  </a:t>
            </a:r>
            <a:r>
              <a:rPr sz="1050" b="0" i="0">
                <a:solidFill>
                  <a:srgbClr val="222222"/>
                </a:solidFill>
                <a:latin typeface="Malgun Gothic"/>
              </a:rPr>
              <a:t>Raspberry Pi OS 64-bit, Python 3.11 (pyserial, picamera2, numpy, pandas)  |  ESP32 Arduino C++  |  TI mmWave SDK 3.6.2, Radar Toolbox 4.00, UniFlash 9.7  |  Streamlit, pytest  |  GitHub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3. 프로그램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01168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상태기계 흐름도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C++ core.cpp, 상태 10개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상태기계 하나가 이탈 확인부터 팬 구동까지 잇는다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7</a:t>
            </a:r>
          </a:p>
        </p:txBody>
      </p:sp>
      <p:sp>
        <p:nvSpPr>
          <p:cNvPr id="12" name="Pentagon 11"/>
          <p:cNvSpPr/>
          <p:nvPr/>
        </p:nvSpPr>
        <p:spPr>
          <a:xfrm>
            <a:off x="548640" y="1417320"/>
            <a:ext cx="1787652" cy="868680"/>
          </a:xfrm>
          <a:prstGeom prst="homePlate">
            <a:avLst>
              <a:gd name="adj" fmla="val 28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STANDBY</a:t>
            </a:r>
          </a:p>
        </p:txBody>
      </p:sp>
      <p:sp>
        <p:nvSpPr>
          <p:cNvPr id="13" name="Chevron 12"/>
          <p:cNvSpPr/>
          <p:nvPr/>
        </p:nvSpPr>
        <p:spPr>
          <a:xfrm>
            <a:off x="2409444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DEPARTURE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_CHECK</a:t>
            </a:r>
          </a:p>
        </p:txBody>
      </p:sp>
      <p:sp>
        <p:nvSpPr>
          <p:cNvPr id="14" name="Chevron 13"/>
          <p:cNvSpPr/>
          <p:nvPr/>
        </p:nvSpPr>
        <p:spPr>
          <a:xfrm>
            <a:off x="4270248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PRIMARY</a:t>
            </a:r>
          </a:p>
        </p:txBody>
      </p:sp>
      <p:sp>
        <p:nvSpPr>
          <p:cNvPr id="15" name="Chevron 14"/>
          <p:cNvSpPr/>
          <p:nvPr/>
        </p:nvSpPr>
        <p:spPr>
          <a:xfrm>
            <a:off x="6131052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MMWAVE</a:t>
            </a:r>
          </a:p>
        </p:txBody>
      </p:sp>
      <p:sp>
        <p:nvSpPr>
          <p:cNvPr id="16" name="Chevron 15"/>
          <p:cNvSpPr/>
          <p:nvPr/>
        </p:nvSpPr>
        <p:spPr>
          <a:xfrm>
            <a:off x="7991856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THERMAL</a:t>
            </a:r>
          </a:p>
        </p:txBody>
      </p:sp>
      <p:sp>
        <p:nvSpPr>
          <p:cNvPr id="17" name="Chevron 16"/>
          <p:cNvSpPr/>
          <p:nvPr/>
        </p:nvSpPr>
        <p:spPr>
          <a:xfrm>
            <a:off x="9852660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PROTECTION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2514600"/>
          <a:ext cx="694944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4297680"/>
              </a:tblGrid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전이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조건 (configs/real.json)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STANDBY → DEPARTURE_CHECK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UWB 거리 &gt; 5.0 m (7점 이동평균)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PRIMARY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5.0 m 초과가 10 s 유지 (4.0 m 안으로 3 s 돌아오면 복귀)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MMWAVE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 OR 카메라 움직임 (2 s 융합 창)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THERMAL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레이더 추적 &gt; 0 또는 presence = 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PROTECTION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실측 ≥ 35°C 또는 예측상 60 s 안에 35°C 도달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FAIL_SAFE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레이더, 센서 2 s 무응답, UART 오류, USB 소실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어느 상태든 → ESTOP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비상정지: 모든 출력 정지 (최우선)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680960" y="2514600"/>
          <a:ext cx="3959350" cy="2377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2467"/>
                <a:gridCol w="552467"/>
                <a:gridCol w="1381169"/>
                <a:gridCol w="147324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Cam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정상 경로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레이더 장애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재평가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SUSPECTED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680960" y="4983480"/>
            <a:ext cx="3959352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정상 = OR (미검출 최소화) → CONFIRMED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레이더 장애 = AND (보수적) → SUSPECTED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임계값은 현장 보정 전 초기값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3. 프로그램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74320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파일 구성과 주요 함수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센서 입력부터 대시보드까지 C++와 Python으로 직접 작성했다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280160"/>
          <a:ext cx="11091671" cy="5029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41668"/>
                <a:gridCol w="2200001"/>
                <a:gridCol w="495000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파일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주요 함수 / 클래스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prototype/SafeGuard_Main/src/core.cpp, core.hpp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State, Core 전이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상태 10개(INIT~ESTOP), 정상 OR / 장애 AND 판정, 출력 요청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prototype/SafeGuard_Main/src/main.cpp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메인 루프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센서 허브 입력 → Core → 팬, 부저, 서보 명령, JSON 로그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prototype/SafeGuard_Main/src/thermal_observer.hpp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열 관측기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최근 10분 온도 기울기 + 적응형 RC로 35°C 도달 예측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prototype/SafeGuard_Main/scripts/sensor_hub.py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센서 허브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ESP32, 카메라, 레이더, UWB 입력을 묶어 C++ 코어로 전달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prototype/SafeGuard_Main/scripts/safeguard_uwb_reader.py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DistanceState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UWB 거리 해석, 7점 이동평균, 2 s 만료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prototype/SafeGuard_Main/scripts/dashboard.py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보호자 대시보드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상태, 온도, 예측을 Pi 8080 포트로 표시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prototype/SafeGuard_Main/firmware/esp32_reference.ino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명령 파서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PIR, SHT31 JSON 송신, FAN/BUZ/SRV 명령과 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hardware/mmwave/mmwave_reader.py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FrameReader, parse_frame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TLV 1010/1020/1021 해석, 원본 바이트(--raw) 저장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hardware/camera/camera_motion.py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MotionState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프레임 차분, 3프레임 연속 규칙, 조명 변화 1초 무시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docs/figures/paper/build_paper_figures.py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fig1 ~ fig7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실측 원본으로 보고서 그림 재현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3. 프로그램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347472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mmWave 처리와 공석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TI 3D People Tracking 출력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Pi에서 레이더 8,363프레임을 누락 0으로 받아 직접 해석했다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9</a:t>
            </a:r>
          </a:p>
        </p:txBody>
      </p:sp>
      <p:sp>
        <p:nvSpPr>
          <p:cNvPr id="12" name="Pentagon 11"/>
          <p:cNvSpPr/>
          <p:nvPr/>
        </p:nvSpPr>
        <p:spPr>
          <a:xfrm>
            <a:off x="548640" y="1371600"/>
            <a:ext cx="2159812" cy="731520"/>
          </a:xfrm>
          <a:prstGeom prst="homePlate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cfg 전송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CLI 115200</a:t>
            </a:r>
          </a:p>
        </p:txBody>
      </p:sp>
      <p:sp>
        <p:nvSpPr>
          <p:cNvPr id="13" name="Chevron 12"/>
          <p:cNvSpPr/>
          <p:nvPr/>
        </p:nvSpPr>
        <p:spPr>
          <a:xfrm>
            <a:off x="278160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바이트 수신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데이터 921600</a:t>
            </a:r>
          </a:p>
        </p:txBody>
      </p:sp>
      <p:sp>
        <p:nvSpPr>
          <p:cNvPr id="14" name="Chevron 13"/>
          <p:cNvSpPr/>
          <p:nvPr/>
        </p:nvSpPr>
        <p:spPr>
          <a:xfrm>
            <a:off x="501456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프레임 분리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매직워드, 길이 검사</a:t>
            </a:r>
          </a:p>
        </p:txBody>
      </p:sp>
      <p:sp>
        <p:nvSpPr>
          <p:cNvPr id="15" name="Chevron 14"/>
          <p:cNvSpPr/>
          <p:nvPr/>
        </p:nvSpPr>
        <p:spPr>
          <a:xfrm>
            <a:off x="724753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TLV 해석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점, 추적, presence</a:t>
            </a:r>
          </a:p>
        </p:txBody>
      </p:sp>
      <p:sp>
        <p:nvSpPr>
          <p:cNvPr id="16" name="Chevron 15"/>
          <p:cNvSpPr/>
          <p:nvPr/>
        </p:nvSpPr>
        <p:spPr>
          <a:xfrm>
            <a:off x="948049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재실 판단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5초 규칙</a:t>
            </a:r>
          </a:p>
        </p:txBody>
      </p:sp>
      <p:pic>
        <p:nvPicPr>
          <p:cNvPr id="17" name="Picture 16" descr="dash_te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04" y="2276856"/>
            <a:ext cx="6697472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" y="6062472"/>
            <a:ext cx="7863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10. 원본 바이트로 다시 그린 TI 데모 형식 화면 (시험 3, 2026.10.27): X-Y, Doppler-Range, 좌석 영역 점 개수</a:t>
            </a:r>
          </a:p>
        </p:txBody>
      </p:sp>
      <p:pic>
        <p:nvPicPr>
          <p:cNvPr id="19" name="Picture 18" descr="radar_cl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7978" y="2276856"/>
            <a:ext cx="1933956" cy="2578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38160" y="4873752"/>
            <a:ext cx="35935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11. IWR6843ISK-ODS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257800"/>
            <a:ext cx="3410712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F1F"/>
                </a:solidFill>
                <a:latin typeface="Malgun Gothic"/>
              </a:rPr>
              <a:t>공석 판정: 추적 1개 이상 또는 presence = 1이면 재실, 5초 연속 둘 다 없을 때만 공석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3. 프로그램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3774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카메라 움직임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Camera Module 3, 10 fps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카메라는 움직일 때만 반응하고 조명 변화는 걸러낸다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10</a:t>
            </a:r>
          </a:p>
        </p:txBody>
      </p:sp>
      <p:pic>
        <p:nvPicPr>
          <p:cNvPr id="12" name="Picture 11" descr="rpt_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23373"/>
            <a:ext cx="11365992" cy="32340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" y="4782312"/>
            <a:ext cx="11640311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12. 조건별 프레임 차분 비율과 판정 결과 (2026.10.27 시험 3, 조명 시험)</a:t>
            </a:r>
          </a:p>
        </p:txBody>
      </p:sp>
      <p:pic>
        <p:nvPicPr>
          <p:cNvPr id="14" name="Picture 13" descr="cam_diff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157216"/>
            <a:ext cx="1609343" cy="1207007"/>
          </a:xfrm>
          <a:prstGeom prst="rect">
            <a:avLst/>
          </a:prstGeom>
        </p:spPr>
      </p:pic>
      <p:pic>
        <p:nvPicPr>
          <p:cNvPr id="15" name="Picture 14" descr="cam_diff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608" y="5157216"/>
            <a:ext cx="1609343" cy="120700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0560" y="5120640"/>
            <a:ext cx="7159752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35400"/>
                </a:solidFill>
                <a:latin typeface="Malgun Gothic"/>
              </a:rPr>
              <a:t>규칙  </a:t>
            </a:r>
            <a:r>
              <a:rPr sz="1150" b="0" i="0">
                <a:solidFill>
                  <a:srgbClr val="222222"/>
                </a:solidFill>
                <a:latin typeface="Malgun Gothic"/>
              </a:rPr>
              <a:t>화소 밝기 차 25 초과 비율이 1%를 3프레임 연속 넘으면 움직임. 60% 넘게 바뀌면 조명 변화로 보고 1초 쉼.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35400"/>
                </a:solidFill>
                <a:latin typeface="Malgun Gothic"/>
              </a:rPr>
              <a:t>결과  </a:t>
            </a:r>
            <a:r>
              <a:rPr sz="1150" b="0" i="0">
                <a:solidFill>
                  <a:srgbClr val="222222"/>
                </a:solidFill>
                <a:latin typeface="Malgun Gothic"/>
              </a:rPr>
              <a:t>움직이는 사람 54.7%, 가만히 앉음 7.4%, 조명 변화 0%. 정지한 탑승자는 레이더가 맡는다.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3. 프로그램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92608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UWB 보호자 이탈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DWM1001 2대, 2026.10.16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UWB 거리 잡음 3.5 cm, 7점 평균으로 절반 줄이고 지연은 1.6초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11</a:t>
            </a:r>
          </a:p>
        </p:txBody>
      </p:sp>
      <p:pic>
        <p:nvPicPr>
          <p:cNvPr id="12" name="Picture 11" descr="rpt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15" y="1316736"/>
            <a:ext cx="6885768" cy="47274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" y="606247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13. UWB 거리 기록, 정지 구간 잡음, 평균 창 크기와 잡음, 계단 응답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280160"/>
            <a:ext cx="4050791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측정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1737360"/>
            <a:ext cx="3776472" cy="12344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100">
                <a:solidFill>
                  <a:srgbClr val="222222"/>
                </a:solidFill>
                <a:latin typeface="Malgun Gothic"/>
              </a:rPr>
              <a:t>차량측 TAG(Pi USB) ↔ 보호자측 ANCHOR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100">
                <a:solidFill>
                  <a:srgbClr val="222222"/>
                </a:solidFill>
                <a:latin typeface="Malgun Gothic"/>
              </a:rPr>
              <a:t>세션 1: 602 s, 1,106개 / 세션 2: 57 s, 112개, 약 1.9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108960"/>
            <a:ext cx="4050791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3566160"/>
            <a:ext cx="3776472" cy="13715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100">
                <a:solidFill>
                  <a:srgbClr val="222222"/>
                </a:solidFill>
                <a:latin typeface="Malgun Gothic"/>
              </a:rPr>
              <a:t>정지 구간 잡음 σ 3.5 cm, 6.7 cm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100">
                <a:solidFill>
                  <a:srgbClr val="222222"/>
                </a:solidFill>
                <a:latin typeface="Malgun Gothic"/>
              </a:rPr>
              <a:t>7점 이동평균: σ 1.7, 3.4 cm, 지연 약 1.6 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100">
                <a:solidFill>
                  <a:srgbClr val="222222"/>
                </a:solidFill>
                <a:latin typeface="Malgun Gothic"/>
              </a:rPr>
              <a:t>5 m + 10 s 유지 판정에 비해 지연이 작다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5074920"/>
            <a:ext cx="4050791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5532120"/>
            <a:ext cx="3776472" cy="7772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100">
                <a:solidFill>
                  <a:srgbClr val="222222"/>
                </a:solidFill>
                <a:latin typeface="Malgun Gothic"/>
              </a:rPr>
              <a:t>정답 거리가 없어 정밀도만 보고. 5 m 이탈 오차는 줄자 시험으로 측정 예정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4. 장애요인과 해결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3774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연결, 수신, 센서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부딪힌 문제 7개, 원인을 찾아 수치로 확인했다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25880"/>
          <a:ext cx="11091671" cy="4983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75001"/>
                <a:gridCol w="3116668"/>
                <a:gridCol w="3116668"/>
                <a:gridCol w="2383334"/>
              </a:tblGrid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장애 요인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해결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레이더 펌웨어 굽기 반복 실패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S1 스위치 5번 ON (Rev C 보드 표와 다름)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TI SWRU546E 표 3-3대로 5번 OFF, 전원 후 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굽기 성공, 펌웨어 3종 교체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Visualizer가 cfg를 못 읽음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검색창 실행 시 작업 폴더 쓰기 금지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exe 폴더에서 직접 실행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추적 화면 18 fps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노트북 수신 프레임 7~8% 깨짐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점 수, 버퍼와 무관 → 노트북 USB 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같은 시험을 Pi에서 반복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 8분 8,681프레임 누락 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Visualizer 약 6분 뒤 보드 무응답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도구 쪽 수신 처리로 추정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수신 리더 mmwave_reader.py 직접 작성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15분 연속 정지 없음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 출력이 흔들림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출력이 떠 있음, 감지 중 0.3~1초 펄스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INPUT_PULLDOWN + FSM 유지 시간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평소 0, 감지 시 1로 안정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SHT31 ‘no device’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4선 하우징이 5핀 헤더에 한 칸 밀려 VCC 빠짐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하우징 이동, 주소 0x45, SDA 32 / SCL 33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온습도 정상 수신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Vital Signs 호흡수 −40~47%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측정 거리칸 1.26 m ≠ 실제 가슴 0.95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거리칸 고정 cfg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오차 0.4~1.4회/분 (2회). 정확도는 주장 안 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4. 장애요인과 해결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4630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유령 추적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2026.10.24 정지 착석 시험, 5분, 센서 높이 1.2 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영역을 차 크기로 줄이자 정지 1인 판정이 0%에서 95.7%로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13</a:t>
            </a:r>
          </a:p>
        </p:txBody>
      </p:sp>
      <p:pic>
        <p:nvPicPr>
          <p:cNvPr id="12" name="Picture 11" descr="fig_still_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2748"/>
            <a:ext cx="7315200" cy="4535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016752"/>
            <a:ext cx="7589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14. 추적 수 원본 CSV (18.2 fps, 5,455프레임씩). 빨간 상자 = 차량용 cfg로 1명을 계속 1명으로 본 구간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0" y="1417320"/>
            <a:ext cx="1508760" cy="82981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E8B57"/>
                </a:solidFill>
                <a:latin typeface="Malgun Gothic"/>
              </a:rPr>
              <a:t>95.7%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00960"/>
            <a:ext cx="1508760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B7F"/>
                </a:solidFill>
                <a:latin typeface="Malgun Gothic"/>
              </a:rPr>
              <a:t>정지 1인
정확 판정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48672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40112" y="1417320"/>
            <a:ext cx="1508760" cy="82981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E8B57"/>
                </a:solidFill>
                <a:latin typeface="Malgun Gothic"/>
              </a:rPr>
              <a:t>6초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0112" y="2200960"/>
            <a:ext cx="1508760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B7F"/>
                </a:solidFill>
                <a:latin typeface="Malgun Gothic"/>
              </a:rPr>
              <a:t>퇴장 후
공석 판정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017520"/>
            <a:ext cx="3502152" cy="3291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원인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TI 원본 cfg는 6 m 방 기준이라, 4 m 벽의 다중 반사가 영역 안에서 사람처럼 추적됐다 (C: 1명에 유령 2~5개).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E8B57"/>
                </a:solidFill>
                <a:latin typeface="Malgun Gothic"/>
              </a:rPr>
              <a:t>해결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추적, 정지 영역(boundaryBox)을 세단 실내 치수로 줄인 ODS_sedan_est.cfg 작성.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35400"/>
                </a:solidFill>
                <a:latin typeface="Malgun Gothic"/>
              </a:rPr>
              <a:t>남은 점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120~138초 간헐 끊김은 정지 영역 높이 1.2 m(아이 기준) 때문으로 추정.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4. 장애요인과 해결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82880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하차 후 잔존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79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2026.10.27 시험 3, 레이더 높이 1.05 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하차 후 추적이 87초 남은 원인은 static2free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14</a:t>
            </a:r>
          </a:p>
        </p:txBody>
      </p:sp>
      <p:pic>
        <p:nvPicPr>
          <p:cNvPr id="12" name="Picture 11" descr="fig_point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055" y="1362456"/>
            <a:ext cx="10832840" cy="3538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4919472"/>
            <a:ext cx="112745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15. 시험 3 레이더 원본 바이트로 다시 그린 점 구름과 추적 위치 (위에서 본 모습, 2026.10.27)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5257800"/>
          <a:ext cx="6583680" cy="1051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280160"/>
                <a:gridCol w="1463040"/>
                <a:gridCol w="1828800"/>
              </a:tblGrid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stateParam static2free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프레임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시간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차량용 cfg (현재)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3000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약 165초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퇴장 후 87초+ 잔존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TI 원본 cfg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500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약 27.5초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시험 C: 33초 뒤 소거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후보 cfg 3종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500 / 200 / 100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27.5 / 11 / 5.5초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결선 전 비교 시험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5257800"/>
            <a:ext cx="4325112" cy="1051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분석  </a:t>
            </a:r>
            <a:r>
              <a:rPr sz="1050" b="0" i="0">
                <a:solidFill>
                  <a:srgbClr val="222222"/>
                </a:solidFill>
                <a:latin typeface="Malgun Gothic"/>
              </a:rPr>
              <a:t>남은 추적 반경 0.5 m 안 점 0개 → 정지 추적 소거 시간(static2free)이 지배. 앉아 있을 때 점이 끊긴 최장은 1.93초라 줄여도 여유 있음.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5. 개발 결과물의 차별성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19456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기존 방식과 비교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기존 방식이 못 하는 세 가지: 이탈 시점, 정지한 아이, 센서 고장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25880"/>
          <a:ext cx="11091671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3334"/>
                <a:gridCol w="2750001"/>
                <a:gridCol w="2750001"/>
                <a:gridCol w="3758335"/>
              </a:tblGrid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비교 항목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후석 알림 (문 개폐 기록)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단일 레이더 CPD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SafeGuard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감지 시작 시점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시동 OFF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상시 또는 시동 OFF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보호자 실제 이탈 (UWB 5 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정지한 아이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판단 불가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가능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가능 (레이더 검증)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센서 고장 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판단 불가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PIR AND 카메라로 SUSPECTED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전력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낮음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레이더 상시 구동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앞 단계 이벤트가 있을 때만 활성화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온도 대응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알림 위주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35°C 도달 전 팬, 부저 선제 구동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설치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신차 내장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신차 내장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기존 차량에 모듈로 추가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핵심 </a:t>
            </a:r>
            <a:r>
              <a:rPr sz="1300">
                <a:solidFill>
                  <a:srgbClr val="222222"/>
                </a:solidFill>
                <a:latin typeface="Malgun Gothic"/>
              </a:rPr>
              <a:t>‘언제 감지를 시작하나(UWB 이탈)’, ‘무엇을 순서대로 켜나(Cascading)’, ‘언제 행동하나(도달 예측)’를 한 상태기계로 묶은 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5. 개발 결과물의 차별성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365760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센서 상호보완과 측정 결과 요약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카메라와 레이더를 합치고 점 근거를 확인하면 퇴장 뒤 오판이 사라진다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16</a:t>
            </a:r>
          </a:p>
        </p:txBody>
      </p:sp>
      <p:pic>
        <p:nvPicPr>
          <p:cNvPr id="11" name="Picture 10" descr="rpt_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19985"/>
            <a:ext cx="6675120" cy="281218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4553712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16. 시험 3 초 단위 재실 판정 (한 사람, 한 번 시험). 점 근거 확인은 사후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83480"/>
            <a:ext cx="658368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35400"/>
                </a:solidFill>
                <a:latin typeface="Malgun Gothic"/>
              </a:rPr>
              <a:t>해석  </a:t>
            </a:r>
            <a:r>
              <a:rPr sz="1100" b="0" i="0">
                <a:solidFill>
                  <a:srgbClr val="222222"/>
                </a:solidFill>
                <a:latin typeface="Malgun Gothic"/>
              </a:rPr>
              <a:t>카메라만으로는 정지 착석을 12%만 잡고, 레이더는 100%지만 퇴장 뒤에도 100%다. 추적 주변 0.45 m 안에 0.5 s 동안 점 3개 이상일 때만 인정하면 퇴장 뒤 0%, 착석 100% (메인 코드 반영 전 해결 후보).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1280160"/>
          <a:ext cx="4325111" cy="5074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56425"/>
                <a:gridCol w="2668686"/>
              </a:tblGrid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이탈 판정 (UWB)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잡음 σ 3.5 cm, 정답 거리 시험 예정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검출률 (레이더)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정지 1인 95.7% (차량 cfg)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퇴장 뒤 오판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유령 추적 발견 → 점 근거 확인 시 0% (사후)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카메라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움직임 54.7%, 조명 변화 0%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수신 주기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레이더 55 ms 누락 0, 카메라 100 ms, UWB 531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온도 예측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문헌 곡선 5분 앞 RMSE 0.81°C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전환 시간, Fail-Safe, 전력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결선 전 측정 (측정 계획 작성)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5. 개발 결과물의 차별성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23774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선제 보호 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905256"/>
            <a:ext cx="822960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B7F"/>
                </a:solidFill>
                <a:latin typeface="Malgun Gothic"/>
              </a:rPr>
              <a:t>문헌 곡선 보정) + 예외 검증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온도가 오르는 추세로 35°C 도달을 미리 계산해 60초 전에 보호한다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17</a:t>
            </a:r>
          </a:p>
        </p:txBody>
      </p:sp>
      <p:pic>
        <p:nvPicPr>
          <p:cNvPr id="12" name="Picture 11" descr="rpt_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5561"/>
            <a:ext cx="7498080" cy="26867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4320" y="4599432"/>
            <a:ext cx="7772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17. McLaren et al. (Pediatrics 2005) 그래프 읽기 값에 맞춘 열 모델 (우리 측정 아님)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138160" y="1280160"/>
          <a:ext cx="3502151" cy="3611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66752"/>
                <a:gridCol w="1935399"/>
              </a:tblGrid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시나리오 (TwinLab)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Normal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t = 35 s 보호 진입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No Occupant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카메라 오검출을 레이더가 걸러냄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mmWave Timeout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6 s 무응답 → FAIL_SAFE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029200"/>
            <a:ext cx="5486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구현 (메인 코드)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486400"/>
            <a:ext cx="5212080" cy="8229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050">
                <a:solidFill>
                  <a:srgbClr val="222222"/>
                </a:solidFill>
                <a:latin typeface="Malgun Gothic"/>
              </a:rPr>
              <a:t>최근 10분 기울기 + 적응형 RC, 예측 60 s 안 35°C면 PROTECTION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050">
                <a:solidFill>
                  <a:srgbClr val="222222"/>
                </a:solidFill>
                <a:latin typeface="Malgun Gothic"/>
              </a:rPr>
              <a:t>합성 이력 시험: 34.5°C, 51 s 뒤 도달 예측 → 팬, 부저 요청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029200"/>
            <a:ext cx="5422392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한계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5486400"/>
            <a:ext cx="5148072" cy="8229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050">
                <a:solidFill>
                  <a:srgbClr val="222222"/>
                </a:solidFill>
                <a:latin typeface="Malgun Gothic"/>
              </a:rPr>
              <a:t>한 연구의 그래프 값 보정이며 실차 검증 아님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050">
                <a:solidFill>
                  <a:srgbClr val="222222"/>
                </a:solidFill>
                <a:latin typeface="Malgun Gothic"/>
              </a:rPr>
              <a:t>실장치 선제 출력 시험은 결선 전 수행. 현장 시연은 DEMO 온도 사용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6. 파급력과 기대효과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32918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시장성, 발전 가능성, 한계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기존 차량에 붙이는 모듈로, 남은 과제는 실차 측정과 전력 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356616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시장과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783080"/>
            <a:ext cx="3291840" cy="2514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Euro NCAP 2026 CPD 평가, 국내 통학차량 하차 확인 의무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통학차량, 가족용 승용차, 렌터카, 카셰어링, 반려동물 동승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범용 보드와 공개 펌웨어, 양산 시 레이더 1칩 + MCU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1325880"/>
            <a:ext cx="356616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발전 가능성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783080"/>
            <a:ext cx="3291840" cy="2514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CAN으로 창문, 공조, 비상등 직접 제어 (지금은 서보 모형 창문)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보호자 앱 푸시, 미응답 시 단계적 연락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거리 고정 레이더로 호흡 감지 (3차 측정 오차 0.4~1.4회/분, 2회)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1325880"/>
            <a:ext cx="3557016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현재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1783080"/>
            <a:ext cx="3282696" cy="2514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실차 미검증, 실험은 실내와 전동차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Pi 상시 ON: 이벤트 기반 활성화 범위만 절감 주장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호흡은 정확도 주장 안 함, 레이더는 재실 판단에만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26280"/>
            <a:ext cx="11091672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22222"/>
                </a:solidFill>
                <a:latin typeface="Malgun Gothic"/>
              </a:rPr>
              <a:t>❖  결선 발표(11/6)까지 남은 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983480"/>
            <a:ext cx="108173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UWB 줄자 5 m 이탈 시험, 상태별 전력 실측 (12V 전류 + USB 전력계), 상태 전환 시간, Fail-Safe 장애 주입 고장별 10회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50">
                <a:solidFill>
                  <a:srgbClr val="222222"/>
                </a:solidFill>
                <a:latin typeface="Malgun Gothic"/>
              </a:rPr>
              <a:t>퇴장 뒤 유령 추적 대책: static2free 후보 비교 + 점 근거 확인을 메인 코드에 반영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7. 개발 일정 및 업무 분장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4630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업무 분장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3명이 블록 하나씩 맡아 검증하고 인계 문서로 합쳤다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325880"/>
          <a:ext cx="1109167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0000"/>
                <a:gridCol w="916667"/>
                <a:gridCol w="1283333"/>
                <a:gridCol w="8341670"/>
              </a:tblGrid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No.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성명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참여 인원의 업무 분장</a:t>
                      </a:r>
                    </a:p>
                  </a:txBody>
                  <a:tcPr marL="54864" marR="54864" marT="27432" marB="27432" anchor="ctr">
                    <a:solidFill>
                      <a:srgbClr val="5E9335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팀장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윤현서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블록 A: 12V 전원 트리, 비상정지, MOSFET 팬, 부저 구동, ESP32 센서 노드 / 메인 통합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최서현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블록 C: UWB 2노드(차량측 TAG, 보호자측 ANCHOR), 이탈 판정 / 메인 통합</a:t>
                      </a:r>
                    </a:p>
                  </a:txBody>
                  <a:tcPr marL="54864" marR="54864" marT="27432" marB="27432" anchor="ctr">
                    <a:solidFill>
                      <a:srgbClr val="F4F7E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윤홍은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블록 B: Pi 5 세팅, Camera Module 3 움직임 검출, mmWave 펌웨어, cfg, 수신 리더, 정지 착석 시험, TwinLab 시뮬레이터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car_side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19" y="4343400"/>
            <a:ext cx="2682240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0440" y="4617720"/>
            <a:ext cx="8119872" cy="1691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협업 방식 </a:t>
            </a:r>
            <a:r>
              <a:rPr sz="1300">
                <a:solidFill>
                  <a:srgbClr val="222222"/>
                </a:solidFill>
                <a:latin typeface="Malgun Gothic"/>
              </a:rPr>
              <a:t>블록별 단독 검증 → 인계 문서(HANDOFF) → 메인 통합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기록 공유 </a:t>
            </a:r>
            <a:r>
              <a:rPr sz="1300">
                <a:solidFill>
                  <a:srgbClr val="222222"/>
                </a:solidFill>
                <a:latin typeface="Malgun Gothic"/>
              </a:rPr>
              <a:t>시험마다 원본 CSV, 사진, SHA256을 회신 패키지로 전달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222222"/>
                </a:solidFill>
                <a:latin typeface="Malgun Gothic"/>
              </a:rPr>
              <a:t>✓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코드 관리 </a:t>
            </a:r>
            <a:r>
              <a:rPr sz="1300">
                <a:solidFill>
                  <a:srgbClr val="222222"/>
                </a:solidFill>
                <a:latin typeface="Malgun Gothic"/>
              </a:rPr>
              <a:t>GitHub Organization(SafeGuard-EWHA)에서 각자 계정으로 커밋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22222"/>
                </a:solidFill>
                <a:latin typeface="Malgun Gothic"/>
              </a:rPr>
              <a:t>7. 개발 일정 및 업무 분장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11643055" cy="22860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74320" y="905256"/>
            <a:ext cx="1463040" cy="338328"/>
          </a:xfrm>
          <a:prstGeom prst="roundRect">
            <a:avLst>
              <a:gd name="adj" fmla="val 12000"/>
            </a:avLst>
          </a:prstGeom>
          <a:solidFill>
            <a:srgbClr val="5E9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개발 일정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0040" y="6437376"/>
            <a:ext cx="457200" cy="256032"/>
          </a:xfrm>
          <a:prstGeom prst="rightArrow">
            <a:avLst/>
          </a:prstGeom>
          <a:solidFill>
            <a:srgbClr val="C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6382512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22222"/>
                </a:solidFill>
                <a:latin typeface="Malgun Gothic"/>
              </a:rPr>
              <a:t>핵심:  </a:t>
            </a:r>
            <a:r>
              <a:rPr sz="1350" b="1" i="0" u="sng">
                <a:solidFill>
                  <a:srgbClr val="C01010"/>
                </a:solidFill>
                <a:latin typeface="Malgun Gothic"/>
              </a:rPr>
              <a:t>9월 장비 수령 뒤 6주 동안 블록 검증과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40480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5월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0452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40452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6월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0424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40424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7월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0396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40396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8월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0368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40368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9월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4034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40340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10월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92024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개발계획서, 예선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1984248"/>
            <a:ext cx="1754962" cy="292608"/>
          </a:xfrm>
          <a:prstGeom prst="roundRect">
            <a:avLst>
              <a:gd name="adj" fmla="val 30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2450592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1차 프로토타입 (Pi 4B), 논문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0443" y="2514600"/>
            <a:ext cx="1039977" cy="292608"/>
          </a:xfrm>
          <a:prstGeom prst="roundRect">
            <a:avLst>
              <a:gd name="adj" fmla="val 30000"/>
            </a:avLst>
          </a:prstGeom>
          <a:solidFill>
            <a:srgbClr val="4E7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8640" y="2980944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TwinLab 시뮬레이터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20435" y="3044951"/>
            <a:ext cx="181996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3511296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장비 수령, 중간발표 (9/12, 9/21)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95358" y="3575303"/>
            <a:ext cx="519988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블록 A/B/C 단독 검증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0354" y="4105656"/>
            <a:ext cx="136497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48640" y="45720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mmWave 펌웨어, 정지 착석 시험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250320" y="4636008"/>
            <a:ext cx="194995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48640" y="5102352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메인 통합, FSM, 장애 주입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0317" y="5166360"/>
            <a:ext cx="259994" cy="292608"/>
          </a:xfrm>
          <a:prstGeom prst="roundRect">
            <a:avLst>
              <a:gd name="adj" fmla="val 3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5632704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결선 서류 (10/28), 발표 (11/6)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84315" y="5696712"/>
            <a:ext cx="164592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82296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" y="-18288"/>
            <a:ext cx="5486400" cy="1097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>SafeGuard | 두고내리지말아조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108960"/>
            <a:ext cx="1828800" cy="27432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0360152" y="3108960"/>
            <a:ext cx="1828800" cy="27432"/>
          </a:xfrm>
          <a:prstGeom prst="rect">
            <a:avLst/>
          </a:prstGeom>
          <a:solidFill>
            <a:srgbClr val="B5C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828800" y="2697480"/>
            <a:ext cx="8531352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222222"/>
                </a:solidFill>
                <a:latin typeface="Malgun Gothic"/>
              </a:rPr>
              <a:t>경청해 주셔서 감사합니다.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74720"/>
            <a:ext cx="8531352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222222"/>
                </a:solidFill>
                <a:latin typeface="Malgun Gothic"/>
              </a:rPr>
              <a:t>두고내리지말아조 (윤현서, 최서현, 윤홍은)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23360"/>
            <a:ext cx="8531352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B7F"/>
                </a:solidFill>
                <a:latin typeface="Malgun Gothic"/>
              </a:rPr>
              <a:t>소스코드  github.com/SafeGuard-EWHA/2026ESWContest_mobility_DugoNaerijiMarajo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B7F"/>
                </a:solidFill>
                <a:latin typeface="Malgun Gothic"/>
              </a:rPr>
              <a:t>시연 영상  youtu.be/[시연 영상 업로드 후 주소 입력]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E"/>
                </a:solidFill>
                <a:latin typeface="Malgun Gothic"/>
              </a:rPr>
              <a:t>2026. 10. 28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